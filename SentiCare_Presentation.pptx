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79F1DF8-A4DC-4A2F-9D38-E7BDE5C518DD}">
  <a:tblStyle styleId="{679F1DF8-A4DC-4A2F-9D38-E7BDE5C518D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" name="Google Shape;27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6" name="Google Shape;30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7" name="Google Shape;327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8" name="Google Shape;348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6" name="Google Shape;356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4" name="Google Shape;394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1" name="Google Shape;431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9" name="Google Shape;439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5" name="Google Shape;465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9" name="Google Shape;509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7" name="Google Shape;517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5" name="Google Shape;545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3" name="Google Shape;573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1" name="Google Shape;581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6" name="Google Shape;616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7" name="Google Shape;637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6" name="Google Shape;666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4" name="Google Shape;674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5" name="Google Shape;695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6" name="Google Shape;696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3" name="Google Shape;733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4" name="Google Shape;734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5" name="Google Shape;755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3" name="Google Shape;763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5" name="Google Shape;795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6" name="Google Shape;796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hyperlink" Target="https://wajeehaijaz-senticare.hf.space" TargetMode="Externa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5943600" y="3474720"/>
            <a:ext cx="3200400" cy="1668780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5943600" y="3474720"/>
            <a:ext cx="3200400" cy="4572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731520" y="731520"/>
            <a:ext cx="73152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Calibri"/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SentiCare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731520" y="1920240"/>
            <a:ext cx="7772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Voice-Based AI Mental Health System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731520" y="260604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B1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8FA3B1"/>
                </a:solidFill>
                <a:latin typeface="Calibri"/>
                <a:ea typeface="Calibri"/>
                <a:cs typeface="Calibri"/>
                <a:sym typeface="Calibri"/>
              </a:rPr>
              <a:t>Capstone Project · University of Sargodha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731520" y="3657600"/>
            <a:ext cx="7772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B1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8FA3B1"/>
                </a:solidFill>
                <a:latin typeface="Calibri"/>
                <a:ea typeface="Calibri"/>
                <a:cs typeface="Calibri"/>
                <a:sym typeface="Calibri"/>
              </a:rPr>
              <a:t>Esha Gulzar</a:t>
            </a:r>
            <a:r>
              <a:rPr b="0" i="0" lang="en-US" sz="1200" u="none" cap="none" strike="noStrike">
                <a:solidFill>
                  <a:srgbClr val="8FA3B1"/>
                </a:solidFill>
                <a:latin typeface="Calibri"/>
                <a:ea typeface="Calibri"/>
                <a:cs typeface="Calibri"/>
                <a:sym typeface="Calibri"/>
              </a:rPr>
              <a:t> ·  Wajeeha Ijaz  ·  </a:t>
            </a:r>
            <a:r>
              <a:rPr lang="en-US" sz="1200">
                <a:solidFill>
                  <a:srgbClr val="8FA3B1"/>
                </a:solidFill>
                <a:latin typeface="Calibri"/>
                <a:ea typeface="Calibri"/>
                <a:cs typeface="Calibri"/>
                <a:sym typeface="Calibri"/>
              </a:rPr>
              <a:t>M. Zain Ul Abidin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B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FA3B1"/>
                </a:solidFill>
                <a:latin typeface="Calibri"/>
                <a:ea typeface="Calibri"/>
                <a:cs typeface="Calibri"/>
                <a:sym typeface="Calibri"/>
              </a:rPr>
              <a:t>Supervisor: Dr. Saad Razaq  |  PM: Dr. Illyas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6035040" y="4297680"/>
            <a:ext cx="2926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2025 – 2026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med">
        <p14:prism dir="l"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Table of Contents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548640" y="987552"/>
            <a:ext cx="502920" cy="50292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548640" y="98755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1143000" y="1005840"/>
            <a:ext cx="3840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8F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4F8FB"/>
                </a:solidFill>
                <a:latin typeface="Calibri"/>
                <a:ea typeface="Calibri"/>
                <a:cs typeface="Calibri"/>
                <a:sym typeface="Calibri"/>
              </a:rPr>
              <a:t>Problem Statement &amp; Motivation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548640" y="1737360"/>
            <a:ext cx="502920" cy="50292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548640" y="17373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1143000" y="1755648"/>
            <a:ext cx="3840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8F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4F8FB"/>
                </a:solidFill>
                <a:latin typeface="Calibri"/>
                <a:ea typeface="Calibri"/>
                <a:cs typeface="Calibri"/>
                <a:sym typeface="Calibri"/>
              </a:rPr>
              <a:t>Project Overview &amp; Objectives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548640" y="2487168"/>
            <a:ext cx="502920" cy="50292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548640" y="248716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1143000" y="2505456"/>
            <a:ext cx="3840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8F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4F8FB"/>
                </a:solidFill>
                <a:latin typeface="Calibri"/>
                <a:ea typeface="Calibri"/>
                <a:cs typeface="Calibri"/>
                <a:sym typeface="Calibri"/>
              </a:rPr>
              <a:t>System Architecture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548640" y="3236976"/>
            <a:ext cx="502920" cy="50292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548640" y="3236976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1143000" y="3255264"/>
            <a:ext cx="3840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8F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4F8FB"/>
                </a:solidFill>
                <a:latin typeface="Calibri"/>
                <a:ea typeface="Calibri"/>
                <a:cs typeface="Calibri"/>
                <a:sym typeface="Calibri"/>
              </a:rPr>
              <a:t>Data &amp; Machine Learning Pipeline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548640" y="3986784"/>
            <a:ext cx="502920" cy="50292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548640" y="3986784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1143000" y="4005072"/>
            <a:ext cx="3840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8F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4F8FB"/>
                </a:solidFill>
                <a:latin typeface="Calibri"/>
                <a:ea typeface="Calibri"/>
                <a:cs typeface="Calibri"/>
                <a:sym typeface="Calibri"/>
              </a:rPr>
              <a:t>Backend API (Flask)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4937760" y="987552"/>
            <a:ext cx="502920" cy="50292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4937760" y="98755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5532120" y="1005840"/>
            <a:ext cx="3840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8F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4F8FB"/>
                </a:solidFill>
                <a:latin typeface="Calibri"/>
                <a:ea typeface="Calibri"/>
                <a:cs typeface="Calibri"/>
                <a:sym typeface="Calibri"/>
              </a:rPr>
              <a:t>Frontend (React)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4937760" y="1737360"/>
            <a:ext cx="502920" cy="50292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4937760" y="17373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5532120" y="1755648"/>
            <a:ext cx="3840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8F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4F8FB"/>
                </a:solidFill>
                <a:latin typeface="Calibri"/>
                <a:ea typeface="Calibri"/>
                <a:cs typeface="Calibri"/>
                <a:sym typeface="Calibri"/>
              </a:rPr>
              <a:t>Database Design (MongoDB)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4937760" y="2487168"/>
            <a:ext cx="502920" cy="50292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4937760" y="248716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5532120" y="2505456"/>
            <a:ext cx="3840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8F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4F8FB"/>
                </a:solidFill>
                <a:latin typeface="Calibri"/>
                <a:ea typeface="Calibri"/>
                <a:cs typeface="Calibri"/>
                <a:sym typeface="Calibri"/>
              </a:rPr>
              <a:t>Voice Processing &amp; TTS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4937760" y="3236976"/>
            <a:ext cx="502920" cy="50292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4"/>
          <p:cNvSpPr/>
          <p:nvPr/>
        </p:nvSpPr>
        <p:spPr>
          <a:xfrm>
            <a:off x="4937760" y="3236976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5532120" y="3255264"/>
            <a:ext cx="3840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8F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4F8FB"/>
                </a:solidFill>
                <a:latin typeface="Calibri"/>
                <a:ea typeface="Calibri"/>
                <a:cs typeface="Calibri"/>
                <a:sym typeface="Calibri"/>
              </a:rPr>
              <a:t>Evaluation &amp; Results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4937760" y="3986784"/>
            <a:ext cx="502920" cy="50292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4937760" y="3986784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5532120" y="4005072"/>
            <a:ext cx="3840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8F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4F8FB"/>
                </a:solidFill>
                <a:latin typeface="Calibri"/>
                <a:ea typeface="Calibri"/>
                <a:cs typeface="Calibri"/>
                <a:sym typeface="Calibri"/>
              </a:rPr>
              <a:t>Demo &amp; Conclusion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"/>
          <p:cNvSpPr/>
          <p:nvPr/>
        </p:nvSpPr>
        <p:spPr>
          <a:xfrm>
            <a:off x="640080" y="1645920"/>
            <a:ext cx="77724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640080" y="283464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Why SentiCare?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6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6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Mental Health Crisis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6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6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Mental Health Crisis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6"/>
          <p:cNvSpPr/>
          <p:nvPr/>
        </p:nvSpPr>
        <p:spPr>
          <a:xfrm>
            <a:off x="365760" y="914400"/>
            <a:ext cx="1828800" cy="1280160"/>
          </a:xfrm>
          <a:prstGeom prst="rect">
            <a:avLst/>
          </a:prstGeom>
          <a:solidFill>
            <a:srgbClr val="C8F0EB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6"/>
          <p:cNvSpPr/>
          <p:nvPr/>
        </p:nvSpPr>
        <p:spPr>
          <a:xfrm>
            <a:off x="365760" y="960120"/>
            <a:ext cx="1828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1 in 4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365760" y="1645920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People affected by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mental disorders globally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2423160" y="914400"/>
            <a:ext cx="1828800" cy="1280160"/>
          </a:xfrm>
          <a:prstGeom prst="rect">
            <a:avLst/>
          </a:prstGeom>
          <a:solidFill>
            <a:srgbClr val="EDE8F7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6"/>
          <p:cNvSpPr/>
          <p:nvPr/>
        </p:nvSpPr>
        <p:spPr>
          <a:xfrm>
            <a:off x="2423160" y="960120"/>
            <a:ext cx="1828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75%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2423160" y="1645920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Cases go untreated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in low-income countries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4480560" y="914400"/>
            <a:ext cx="1828800" cy="1280160"/>
          </a:xfrm>
          <a:prstGeom prst="rect">
            <a:avLst/>
          </a:prstGeom>
          <a:solidFill>
            <a:srgbClr val="D6EAF8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6"/>
          <p:cNvSpPr/>
          <p:nvPr/>
        </p:nvSpPr>
        <p:spPr>
          <a:xfrm>
            <a:off x="4480560" y="960120"/>
            <a:ext cx="1828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800K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4480560" y="1645920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Lives lost to suicide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every year (WHO)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6537960" y="914400"/>
            <a:ext cx="1828800" cy="1280160"/>
          </a:xfrm>
          <a:prstGeom prst="rect">
            <a:avLst/>
          </a:prstGeom>
          <a:solidFill>
            <a:srgbClr val="C8F0EB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6"/>
          <p:cNvSpPr/>
          <p:nvPr/>
        </p:nvSpPr>
        <p:spPr>
          <a:xfrm>
            <a:off x="6537960" y="960120"/>
            <a:ext cx="1828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60%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6537960" y="1645920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Students report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significant anxiety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365760" y="237744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Key Challenges in Existing Solutions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457200" y="2834640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❌  High cost of therapy sessions — inaccessible for students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457200" y="3218688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❌  Stigma around seeking professional help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457200" y="3602736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❌  Long wait times for appointments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457200" y="3986784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❌  No multilingual support (especially Urdu)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457200" y="4370832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❌  No continuous or real-time monitoring of mental state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7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7"/>
          <p:cNvSpPr/>
          <p:nvPr/>
        </p:nvSpPr>
        <p:spPr>
          <a:xfrm>
            <a:off x="640080" y="1645920"/>
            <a:ext cx="77724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 Overview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640080" y="283464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What is SentiCare?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8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8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is SentiCare?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8"/>
          <p:cNvSpPr/>
          <p:nvPr/>
        </p:nvSpPr>
        <p:spPr>
          <a:xfrm>
            <a:off x="365760" y="868680"/>
            <a:ext cx="4937760" cy="3840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SentiCare is a voice-based AI mental health companion that: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Analyzes voice biomarkers (pitch, tone, MFCC) to detect emotion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Runs ML models to predict anxiety, stress, and depression severity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Provides a bilingual (English + Urdu) therapeutic chatbot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Tracks emotional trends over multiple sessions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Learns from user feedback (RLHF-ready)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8"/>
          <p:cNvSpPr/>
          <p:nvPr/>
        </p:nvSpPr>
        <p:spPr>
          <a:xfrm>
            <a:off x="5394960" y="914400"/>
            <a:ext cx="3383280" cy="822960"/>
          </a:xfrm>
          <a:prstGeom prst="rect">
            <a:avLst/>
          </a:prstGeom>
          <a:solidFill>
            <a:srgbClr val="F4F8FB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8"/>
          <p:cNvSpPr/>
          <p:nvPr/>
        </p:nvSpPr>
        <p:spPr>
          <a:xfrm>
            <a:off x="5532120" y="932688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Institution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8"/>
          <p:cNvSpPr/>
          <p:nvPr/>
        </p:nvSpPr>
        <p:spPr>
          <a:xfrm>
            <a:off x="5532120" y="1261872"/>
            <a:ext cx="31089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University of Sargodha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8"/>
          <p:cNvSpPr/>
          <p:nvPr/>
        </p:nvSpPr>
        <p:spPr>
          <a:xfrm>
            <a:off x="5394960" y="1901952"/>
            <a:ext cx="3383280" cy="822960"/>
          </a:xfrm>
          <a:prstGeom prst="rect">
            <a:avLst/>
          </a:prstGeom>
          <a:solidFill>
            <a:srgbClr val="F4F8FB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8"/>
          <p:cNvSpPr/>
          <p:nvPr/>
        </p:nvSpPr>
        <p:spPr>
          <a:xfrm>
            <a:off x="5532120" y="192024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Live Demo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8"/>
          <p:cNvSpPr/>
          <p:nvPr/>
        </p:nvSpPr>
        <p:spPr>
          <a:xfrm>
            <a:off x="5532120" y="2249424"/>
            <a:ext cx="31089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wajeehaijaz-senticare.hf.space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8"/>
          <p:cNvSpPr/>
          <p:nvPr/>
        </p:nvSpPr>
        <p:spPr>
          <a:xfrm>
            <a:off x="5394960" y="2889504"/>
            <a:ext cx="3383280" cy="822960"/>
          </a:xfrm>
          <a:prstGeom prst="rect">
            <a:avLst/>
          </a:prstGeom>
          <a:solidFill>
            <a:srgbClr val="F4F8FB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8"/>
          <p:cNvSpPr/>
          <p:nvPr/>
        </p:nvSpPr>
        <p:spPr>
          <a:xfrm>
            <a:off x="5532120" y="2907792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Repo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8"/>
          <p:cNvSpPr/>
          <p:nvPr/>
        </p:nvSpPr>
        <p:spPr>
          <a:xfrm>
            <a:off x="5532120" y="3236976"/>
            <a:ext cx="31089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github.com/sheikh-zain786/SentiCare-Capstone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8"/>
          <p:cNvSpPr/>
          <p:nvPr/>
        </p:nvSpPr>
        <p:spPr>
          <a:xfrm>
            <a:off x="5394960" y="3877056"/>
            <a:ext cx="3383280" cy="822960"/>
          </a:xfrm>
          <a:prstGeom prst="rect">
            <a:avLst/>
          </a:prstGeom>
          <a:solidFill>
            <a:srgbClr val="F4F8FB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8"/>
          <p:cNvSpPr/>
          <p:nvPr/>
        </p:nvSpPr>
        <p:spPr>
          <a:xfrm>
            <a:off x="5532120" y="3895344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Language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8"/>
          <p:cNvSpPr/>
          <p:nvPr/>
        </p:nvSpPr>
        <p:spPr>
          <a:xfrm>
            <a:off x="5532120" y="4224528"/>
            <a:ext cx="31089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Python 41.8% · JS 17.5% · Jupyter 30.4%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9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 Objectives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9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9"/>
          <p:cNvSpPr/>
          <p:nvPr/>
        </p:nvSpPr>
        <p:spPr>
          <a:xfrm>
            <a:off x="365760" y="868680"/>
            <a:ext cx="4023360" cy="1170432"/>
          </a:xfrm>
          <a:prstGeom prst="rect">
            <a:avLst/>
          </a:prstGeom>
          <a:solidFill>
            <a:srgbClr val="C8F0EB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9"/>
          <p:cNvSpPr/>
          <p:nvPr/>
        </p:nvSpPr>
        <p:spPr>
          <a:xfrm>
            <a:off x="365760" y="868680"/>
            <a:ext cx="182880" cy="1170432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9"/>
          <p:cNvSpPr/>
          <p:nvPr/>
        </p:nvSpPr>
        <p:spPr>
          <a:xfrm>
            <a:off x="640080" y="960120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Detect emotion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9"/>
          <p:cNvSpPr/>
          <p:nvPr/>
        </p:nvSpPr>
        <p:spPr>
          <a:xfrm>
            <a:off x="640080" y="1307592"/>
            <a:ext cx="3657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Extract pitch, tone &amp; MFCC biomarkers from 30-second voice recording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9"/>
          <p:cNvSpPr/>
          <p:nvPr/>
        </p:nvSpPr>
        <p:spPr>
          <a:xfrm>
            <a:off x="365760" y="2194560"/>
            <a:ext cx="4023360" cy="1170432"/>
          </a:xfrm>
          <a:prstGeom prst="rect">
            <a:avLst/>
          </a:prstGeom>
          <a:solidFill>
            <a:srgbClr val="C8F0EB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9"/>
          <p:cNvSpPr/>
          <p:nvPr/>
        </p:nvSpPr>
        <p:spPr>
          <a:xfrm>
            <a:off x="365760" y="2194560"/>
            <a:ext cx="182880" cy="1170432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9"/>
          <p:cNvSpPr/>
          <p:nvPr/>
        </p:nvSpPr>
        <p:spPr>
          <a:xfrm>
            <a:off x="640080" y="2286000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Predict condition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9"/>
          <p:cNvSpPr/>
          <p:nvPr/>
        </p:nvSpPr>
        <p:spPr>
          <a:xfrm>
            <a:off x="640080" y="2633472"/>
            <a:ext cx="3657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Classify anxiety, stress, depression (mild / moderate / severe) via ML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9"/>
          <p:cNvSpPr/>
          <p:nvPr/>
        </p:nvSpPr>
        <p:spPr>
          <a:xfrm>
            <a:off x="365760" y="3520440"/>
            <a:ext cx="4023360" cy="1170432"/>
          </a:xfrm>
          <a:prstGeom prst="rect">
            <a:avLst/>
          </a:prstGeom>
          <a:solidFill>
            <a:srgbClr val="C8F0EB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9"/>
          <p:cNvSpPr/>
          <p:nvPr/>
        </p:nvSpPr>
        <p:spPr>
          <a:xfrm>
            <a:off x="365760" y="3520440"/>
            <a:ext cx="182880" cy="1170432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9"/>
          <p:cNvSpPr/>
          <p:nvPr/>
        </p:nvSpPr>
        <p:spPr>
          <a:xfrm>
            <a:off x="640080" y="3611880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Therapeutic chat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9"/>
          <p:cNvSpPr/>
          <p:nvPr/>
        </p:nvSpPr>
        <p:spPr>
          <a:xfrm>
            <a:off x="640080" y="3959352"/>
            <a:ext cx="3657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Provide empathetic AI-driven coping suggestions in conversation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9"/>
          <p:cNvSpPr/>
          <p:nvPr/>
        </p:nvSpPr>
        <p:spPr>
          <a:xfrm>
            <a:off x="4754880" y="868680"/>
            <a:ext cx="4023360" cy="1170432"/>
          </a:xfrm>
          <a:prstGeom prst="rect">
            <a:avLst/>
          </a:prstGeom>
          <a:solidFill>
            <a:srgbClr val="EDE8F7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9"/>
          <p:cNvSpPr/>
          <p:nvPr/>
        </p:nvSpPr>
        <p:spPr>
          <a:xfrm>
            <a:off x="4754880" y="868680"/>
            <a:ext cx="182880" cy="1170432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9"/>
          <p:cNvSpPr/>
          <p:nvPr/>
        </p:nvSpPr>
        <p:spPr>
          <a:xfrm>
            <a:off x="5029200" y="960120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Bilingual TTS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9"/>
          <p:cNvSpPr/>
          <p:nvPr/>
        </p:nvSpPr>
        <p:spPr>
          <a:xfrm>
            <a:off x="5029200" y="1307592"/>
            <a:ext cx="3657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Deliver voice responses in English and Urdu using Edge-TTS / gTTS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9"/>
          <p:cNvSpPr/>
          <p:nvPr/>
        </p:nvSpPr>
        <p:spPr>
          <a:xfrm>
            <a:off x="4754880" y="2194560"/>
            <a:ext cx="4023360" cy="1170432"/>
          </a:xfrm>
          <a:prstGeom prst="rect">
            <a:avLst/>
          </a:prstGeom>
          <a:solidFill>
            <a:srgbClr val="EDE8F7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9"/>
          <p:cNvSpPr/>
          <p:nvPr/>
        </p:nvSpPr>
        <p:spPr>
          <a:xfrm>
            <a:off x="4754880" y="2194560"/>
            <a:ext cx="182880" cy="1170432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9"/>
          <p:cNvSpPr/>
          <p:nvPr/>
        </p:nvSpPr>
        <p:spPr>
          <a:xfrm>
            <a:off x="5029200" y="2286000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Trend tracking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9"/>
          <p:cNvSpPr/>
          <p:nvPr/>
        </p:nvSpPr>
        <p:spPr>
          <a:xfrm>
            <a:off x="5029200" y="2633472"/>
            <a:ext cx="3657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Visualize emotional progress over sessions with Recharts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9"/>
          <p:cNvSpPr/>
          <p:nvPr/>
        </p:nvSpPr>
        <p:spPr>
          <a:xfrm>
            <a:off x="4754880" y="3520440"/>
            <a:ext cx="4023360" cy="1170432"/>
          </a:xfrm>
          <a:prstGeom prst="rect">
            <a:avLst/>
          </a:prstGeom>
          <a:solidFill>
            <a:srgbClr val="EDE8F7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9"/>
          <p:cNvSpPr/>
          <p:nvPr/>
        </p:nvSpPr>
        <p:spPr>
          <a:xfrm>
            <a:off x="4754880" y="3520440"/>
            <a:ext cx="182880" cy="1170432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9"/>
          <p:cNvSpPr/>
          <p:nvPr/>
        </p:nvSpPr>
        <p:spPr>
          <a:xfrm>
            <a:off x="5029200" y="3611880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Feedback loop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9"/>
          <p:cNvSpPr/>
          <p:nvPr/>
        </p:nvSpPr>
        <p:spPr>
          <a:xfrm>
            <a:off x="5029200" y="3959352"/>
            <a:ext cx="3657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Collect 👍👎 ratings for future RLHF model improvement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0"/>
          <p:cNvSpPr/>
          <p:nvPr/>
        </p:nvSpPr>
        <p:spPr>
          <a:xfrm>
            <a:off x="640080" y="1645920"/>
            <a:ext cx="77724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System Architecture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0"/>
          <p:cNvSpPr/>
          <p:nvPr/>
        </p:nvSpPr>
        <p:spPr>
          <a:xfrm>
            <a:off x="640080" y="283464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How all components connect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High-Level Architecture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1"/>
          <p:cNvSpPr/>
          <p:nvPr/>
        </p:nvSpPr>
        <p:spPr>
          <a:xfrm>
            <a:off x="320040" y="868680"/>
            <a:ext cx="8503920" cy="841248"/>
          </a:xfrm>
          <a:prstGeom prst="rect">
            <a:avLst/>
          </a:prstGeom>
          <a:solidFill>
            <a:srgbClr val="EDE8F7"/>
          </a:solidFill>
          <a:ln cap="flat" cmpd="sng" w="12700">
            <a:solidFill>
              <a:srgbClr val="6B5EA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1"/>
          <p:cNvSpPr/>
          <p:nvPr/>
        </p:nvSpPr>
        <p:spPr>
          <a:xfrm>
            <a:off x="457200" y="886968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REACT FRONTEND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1"/>
          <p:cNvSpPr/>
          <p:nvPr/>
        </p:nvSpPr>
        <p:spPr>
          <a:xfrm>
            <a:off x="457200" y="123444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Voice </a:t>
            </a:r>
            <a:r>
              <a:rPr lang="en-US" sz="11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Check In</a:t>
            </a: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 · Questionnaire · Chat · Charts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1"/>
          <p:cNvSpPr/>
          <p:nvPr/>
        </p:nvSpPr>
        <p:spPr>
          <a:xfrm>
            <a:off x="4297680" y="1709928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↕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1"/>
          <p:cNvSpPr/>
          <p:nvPr/>
        </p:nvSpPr>
        <p:spPr>
          <a:xfrm>
            <a:off x="320040" y="1856232"/>
            <a:ext cx="8503920" cy="841248"/>
          </a:xfrm>
          <a:prstGeom prst="rect">
            <a:avLst/>
          </a:prstGeom>
          <a:solidFill>
            <a:srgbClr val="C8F0EB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1"/>
          <p:cNvSpPr/>
          <p:nvPr/>
        </p:nvSpPr>
        <p:spPr>
          <a:xfrm>
            <a:off x="457200" y="1874520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FLASK BACKEND (REST API)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1"/>
          <p:cNvSpPr/>
          <p:nvPr/>
        </p:nvSpPr>
        <p:spPr>
          <a:xfrm>
            <a:off x="457200" y="2221992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/voice-intro · /predict · /chat · /tts · /feedback · /history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1"/>
          <p:cNvSpPr/>
          <p:nvPr/>
        </p:nvSpPr>
        <p:spPr>
          <a:xfrm>
            <a:off x="4297680" y="2697480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↕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1"/>
          <p:cNvSpPr/>
          <p:nvPr/>
        </p:nvSpPr>
        <p:spPr>
          <a:xfrm>
            <a:off x="320040" y="2843784"/>
            <a:ext cx="8503920" cy="841248"/>
          </a:xfrm>
          <a:prstGeom prst="rect">
            <a:avLst/>
          </a:prstGeom>
          <a:solidFill>
            <a:srgbClr val="D6EAF8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1"/>
          <p:cNvSpPr/>
          <p:nvPr/>
        </p:nvSpPr>
        <p:spPr>
          <a:xfrm>
            <a:off x="457200" y="2862072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ML ENGINE (scikit-learn)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1"/>
          <p:cNvSpPr/>
          <p:nvPr/>
        </p:nvSpPr>
        <p:spPr>
          <a:xfrm>
            <a:off x="457200" y="3209544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Preprocessor · Random Forest / SVM · .joblib artifacts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1"/>
          <p:cNvSpPr/>
          <p:nvPr/>
        </p:nvSpPr>
        <p:spPr>
          <a:xfrm>
            <a:off x="4297680" y="3685032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↕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1"/>
          <p:cNvSpPr/>
          <p:nvPr/>
        </p:nvSpPr>
        <p:spPr>
          <a:xfrm>
            <a:off x="320040" y="3831336"/>
            <a:ext cx="8503920" cy="841248"/>
          </a:xfrm>
          <a:prstGeom prst="rect">
            <a:avLst/>
          </a:prstGeom>
          <a:solidFill>
            <a:srgbClr val="FFF3E0"/>
          </a:solidFill>
          <a:ln cap="flat" cmpd="sng" w="12700">
            <a:solidFill>
              <a:srgbClr val="E07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1"/>
          <p:cNvSpPr/>
          <p:nvPr/>
        </p:nvSpPr>
        <p:spPr>
          <a:xfrm>
            <a:off x="457200" y="3849624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DATABASE (MongoDB Atlas)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1"/>
          <p:cNvSpPr/>
          <p:nvPr/>
        </p:nvSpPr>
        <p:spPr>
          <a:xfrm>
            <a:off x="457200" y="4197096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sessions · biomarkers · predictions · chat_history · feedback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Technology Stack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2"/>
          <p:cNvSpPr/>
          <p:nvPr/>
        </p:nvSpPr>
        <p:spPr>
          <a:xfrm>
            <a:off x="320040" y="868680"/>
            <a:ext cx="4069080" cy="1170432"/>
          </a:xfrm>
          <a:prstGeom prst="rect">
            <a:avLst/>
          </a:prstGeom>
          <a:solidFill>
            <a:srgbClr val="EDE8F7"/>
          </a:solidFill>
          <a:ln cap="flat" cmpd="sng" w="12700">
            <a:solidFill>
              <a:srgbClr val="6B5EA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2"/>
          <p:cNvSpPr/>
          <p:nvPr/>
        </p:nvSpPr>
        <p:spPr>
          <a:xfrm>
            <a:off x="320040" y="868680"/>
            <a:ext cx="201168" cy="1170432"/>
          </a:xfrm>
          <a:prstGeom prst="rect">
            <a:avLst/>
          </a:prstGeom>
          <a:solidFill>
            <a:srgbClr val="6B5EA8"/>
          </a:solidFill>
          <a:ln cap="flat" cmpd="sng" w="12700">
            <a:solidFill>
              <a:srgbClr val="6B5E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2"/>
          <p:cNvSpPr/>
          <p:nvPr/>
        </p:nvSpPr>
        <p:spPr>
          <a:xfrm>
            <a:off x="612648" y="960120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2"/>
          <p:cNvSpPr/>
          <p:nvPr/>
        </p:nvSpPr>
        <p:spPr>
          <a:xfrm>
            <a:off x="612648" y="1307592"/>
            <a:ext cx="3657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React.js · Recharts · Axios · CSS3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2"/>
          <p:cNvSpPr/>
          <p:nvPr/>
        </p:nvSpPr>
        <p:spPr>
          <a:xfrm>
            <a:off x="4754880" y="868680"/>
            <a:ext cx="4069080" cy="1170432"/>
          </a:xfrm>
          <a:prstGeom prst="rect">
            <a:avLst/>
          </a:prstGeom>
          <a:solidFill>
            <a:srgbClr val="C8F0EB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2"/>
          <p:cNvSpPr/>
          <p:nvPr/>
        </p:nvSpPr>
        <p:spPr>
          <a:xfrm>
            <a:off x="4754880" y="868680"/>
            <a:ext cx="201168" cy="1170432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2"/>
          <p:cNvSpPr/>
          <p:nvPr/>
        </p:nvSpPr>
        <p:spPr>
          <a:xfrm>
            <a:off x="5047488" y="960120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2"/>
          <p:cNvSpPr/>
          <p:nvPr/>
        </p:nvSpPr>
        <p:spPr>
          <a:xfrm>
            <a:off x="5047488" y="1307592"/>
            <a:ext cx="3657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Python · Flask · flask-cors · python-dotenv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2"/>
          <p:cNvSpPr/>
          <p:nvPr/>
        </p:nvSpPr>
        <p:spPr>
          <a:xfrm>
            <a:off x="320040" y="2240280"/>
            <a:ext cx="4069080" cy="1170432"/>
          </a:xfrm>
          <a:prstGeom prst="rect">
            <a:avLst/>
          </a:prstGeom>
          <a:solidFill>
            <a:srgbClr val="D6EAF8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2"/>
          <p:cNvSpPr/>
          <p:nvPr/>
        </p:nvSpPr>
        <p:spPr>
          <a:xfrm>
            <a:off x="320040" y="2240280"/>
            <a:ext cx="201168" cy="1170432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2"/>
          <p:cNvSpPr/>
          <p:nvPr/>
        </p:nvSpPr>
        <p:spPr>
          <a:xfrm>
            <a:off x="612648" y="2331720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ML / AI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2"/>
          <p:cNvSpPr/>
          <p:nvPr/>
        </p:nvSpPr>
        <p:spPr>
          <a:xfrm>
            <a:off x="612648" y="2679192"/>
            <a:ext cx="3657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scikit-learn · numpy · pandas · joblib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2"/>
          <p:cNvSpPr/>
          <p:nvPr/>
        </p:nvSpPr>
        <p:spPr>
          <a:xfrm>
            <a:off x="4754880" y="2240280"/>
            <a:ext cx="4069080" cy="1170432"/>
          </a:xfrm>
          <a:prstGeom prst="rect">
            <a:avLst/>
          </a:prstGeom>
          <a:solidFill>
            <a:srgbClr val="FFF3E0"/>
          </a:solidFill>
          <a:ln cap="flat" cmpd="sng" w="12700">
            <a:solidFill>
              <a:srgbClr val="E07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2"/>
          <p:cNvSpPr/>
          <p:nvPr/>
        </p:nvSpPr>
        <p:spPr>
          <a:xfrm>
            <a:off x="4754880" y="2240280"/>
            <a:ext cx="201168" cy="1170432"/>
          </a:xfrm>
          <a:prstGeom prst="rect">
            <a:avLst/>
          </a:prstGeom>
          <a:solidFill>
            <a:srgbClr val="E07A5F"/>
          </a:solidFill>
          <a:ln cap="flat" cmpd="sng" w="12700">
            <a:solidFill>
              <a:srgbClr val="E07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2"/>
          <p:cNvSpPr/>
          <p:nvPr/>
        </p:nvSpPr>
        <p:spPr>
          <a:xfrm>
            <a:off x="5047488" y="2331720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Audio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2"/>
          <p:cNvSpPr/>
          <p:nvPr/>
        </p:nvSpPr>
        <p:spPr>
          <a:xfrm>
            <a:off x="5047488" y="2679192"/>
            <a:ext cx="3657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Edge-TTS · gTTS · Web Audio API (MFCC)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2"/>
          <p:cNvSpPr/>
          <p:nvPr/>
        </p:nvSpPr>
        <p:spPr>
          <a:xfrm>
            <a:off x="320040" y="3611880"/>
            <a:ext cx="4069080" cy="1170432"/>
          </a:xfrm>
          <a:prstGeom prst="rect">
            <a:avLst/>
          </a:prstGeom>
          <a:solidFill>
            <a:srgbClr val="E8F5E9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2"/>
          <p:cNvSpPr/>
          <p:nvPr/>
        </p:nvSpPr>
        <p:spPr>
          <a:xfrm>
            <a:off x="320040" y="3611880"/>
            <a:ext cx="201168" cy="1170432"/>
          </a:xfrm>
          <a:prstGeom prst="rect">
            <a:avLst/>
          </a:prstGeom>
          <a:solidFill>
            <a:srgbClr val="2E7D32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2"/>
          <p:cNvSpPr/>
          <p:nvPr/>
        </p:nvSpPr>
        <p:spPr>
          <a:xfrm>
            <a:off x="612648" y="3703320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Database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2"/>
          <p:cNvSpPr/>
          <p:nvPr/>
        </p:nvSpPr>
        <p:spPr>
          <a:xfrm>
            <a:off x="612648" y="4050792"/>
            <a:ext cx="3657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MongoDB Atlas · pymongo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2"/>
          <p:cNvSpPr/>
          <p:nvPr/>
        </p:nvSpPr>
        <p:spPr>
          <a:xfrm>
            <a:off x="4754880" y="3611880"/>
            <a:ext cx="4069080" cy="1170432"/>
          </a:xfrm>
          <a:prstGeom prst="rect">
            <a:avLst/>
          </a:prstGeom>
          <a:solidFill>
            <a:srgbClr val="F3E5F5"/>
          </a:solidFill>
          <a:ln cap="flat" cmpd="sng" w="12700">
            <a:solidFill>
              <a:srgbClr val="6A1B9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2"/>
          <p:cNvSpPr/>
          <p:nvPr/>
        </p:nvSpPr>
        <p:spPr>
          <a:xfrm>
            <a:off x="4754880" y="3611880"/>
            <a:ext cx="201168" cy="1170432"/>
          </a:xfrm>
          <a:prstGeom prst="rect">
            <a:avLst/>
          </a:prstGeom>
          <a:solidFill>
            <a:srgbClr val="6A1B9A"/>
          </a:solidFill>
          <a:ln cap="flat" cmpd="sng" w="12700">
            <a:solidFill>
              <a:srgbClr val="6A1B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2"/>
          <p:cNvSpPr/>
          <p:nvPr/>
        </p:nvSpPr>
        <p:spPr>
          <a:xfrm>
            <a:off x="5047488" y="3703320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DevOps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2"/>
          <p:cNvSpPr/>
          <p:nvPr/>
        </p:nvSpPr>
        <p:spPr>
          <a:xfrm>
            <a:off x="5047488" y="4050792"/>
            <a:ext cx="3657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Docker · Jupyter · GitHub · HuggingFace Spaces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3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3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Repository Structure (14 Folders)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3"/>
          <p:cNvSpPr/>
          <p:nvPr/>
        </p:nvSpPr>
        <p:spPr>
          <a:xfrm>
            <a:off x="320040" y="896112"/>
            <a:ext cx="4069080" cy="658368"/>
          </a:xfrm>
          <a:prstGeom prst="rect">
            <a:avLst/>
          </a:prstGeom>
          <a:solidFill>
            <a:srgbClr val="EDE8F7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3"/>
          <p:cNvSpPr/>
          <p:nvPr/>
        </p:nvSpPr>
        <p:spPr>
          <a:xfrm>
            <a:off x="429768" y="941832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1B3A5C"/>
                </a:solidFill>
                <a:latin typeface="Consolas"/>
                <a:ea typeface="Consolas"/>
                <a:cs typeface="Consolas"/>
                <a:sym typeface="Consolas"/>
              </a:rPr>
              <a:t>senticare-frontend/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3"/>
          <p:cNvSpPr/>
          <p:nvPr/>
        </p:nvSpPr>
        <p:spPr>
          <a:xfrm>
            <a:off x="429768" y="1216152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React web app — VoiceCheckIn, TherapyCards, Chat UI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3"/>
          <p:cNvSpPr/>
          <p:nvPr/>
        </p:nvSpPr>
        <p:spPr>
          <a:xfrm>
            <a:off x="320040" y="1682496"/>
            <a:ext cx="4069080" cy="658368"/>
          </a:xfrm>
          <a:prstGeom prst="rect">
            <a:avLst/>
          </a:prstGeom>
          <a:solidFill>
            <a:srgbClr val="C8F0EB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3"/>
          <p:cNvSpPr/>
          <p:nvPr/>
        </p:nvSpPr>
        <p:spPr>
          <a:xfrm>
            <a:off x="429768" y="1728216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1B3A5C"/>
                </a:solidFill>
                <a:latin typeface="Consolas"/>
                <a:ea typeface="Consolas"/>
                <a:cs typeface="Consolas"/>
                <a:sym typeface="Consolas"/>
              </a:rPr>
              <a:t>backend/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3"/>
          <p:cNvSpPr/>
          <p:nvPr/>
        </p:nvSpPr>
        <p:spPr>
          <a:xfrm>
            <a:off x="429768" y="2002536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Flask API server — app.py entry point, all REST routes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3"/>
          <p:cNvSpPr/>
          <p:nvPr/>
        </p:nvSpPr>
        <p:spPr>
          <a:xfrm>
            <a:off x="320040" y="2468880"/>
            <a:ext cx="4069080" cy="658368"/>
          </a:xfrm>
          <a:prstGeom prst="rect">
            <a:avLst/>
          </a:prstGeom>
          <a:solidFill>
            <a:srgbClr val="D6EAF8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3"/>
          <p:cNvSpPr/>
          <p:nvPr/>
        </p:nvSpPr>
        <p:spPr>
          <a:xfrm>
            <a:off x="429768" y="251460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1B3A5C"/>
                </a:solidFill>
                <a:latin typeface="Consolas"/>
                <a:ea typeface="Consolas"/>
                <a:cs typeface="Consolas"/>
                <a:sym typeface="Consolas"/>
              </a:rPr>
              <a:t>artifacts/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3"/>
          <p:cNvSpPr/>
          <p:nvPr/>
        </p:nvSpPr>
        <p:spPr>
          <a:xfrm>
            <a:off x="429768" y="2788920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Trained .joblib ML model files for anxiety/stress/depression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3"/>
          <p:cNvSpPr/>
          <p:nvPr/>
        </p:nvSpPr>
        <p:spPr>
          <a:xfrm>
            <a:off x="320040" y="3255264"/>
            <a:ext cx="4069080" cy="658368"/>
          </a:xfrm>
          <a:prstGeom prst="rect">
            <a:avLst/>
          </a:prstGeom>
          <a:solidFill>
            <a:srgbClr val="FFF3E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3"/>
          <p:cNvSpPr/>
          <p:nvPr/>
        </p:nvSpPr>
        <p:spPr>
          <a:xfrm>
            <a:off x="429768" y="3300984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1B3A5C"/>
                </a:solidFill>
                <a:latin typeface="Consolas"/>
                <a:ea typeface="Consolas"/>
                <a:cs typeface="Consolas"/>
                <a:sym typeface="Consolas"/>
              </a:rPr>
              <a:t>data/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3"/>
          <p:cNvSpPr/>
          <p:nvPr/>
        </p:nvSpPr>
        <p:spPr>
          <a:xfrm>
            <a:off x="429768" y="3575304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Kaggle CSV datasets — Student Mental Health Survey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3"/>
          <p:cNvSpPr/>
          <p:nvPr/>
        </p:nvSpPr>
        <p:spPr>
          <a:xfrm>
            <a:off x="320040" y="4041648"/>
            <a:ext cx="4069080" cy="658368"/>
          </a:xfrm>
          <a:prstGeom prst="rect">
            <a:avLst/>
          </a:prstGeom>
          <a:solidFill>
            <a:srgbClr val="FFF3E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3"/>
          <p:cNvSpPr/>
          <p:nvPr/>
        </p:nvSpPr>
        <p:spPr>
          <a:xfrm>
            <a:off x="429768" y="4087368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1B3A5C"/>
                </a:solidFill>
                <a:latin typeface="Consolas"/>
                <a:ea typeface="Consolas"/>
                <a:cs typeface="Consolas"/>
                <a:sym typeface="Consolas"/>
              </a:rPr>
              <a:t>notebooks/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3"/>
          <p:cNvSpPr/>
          <p:nvPr/>
        </p:nvSpPr>
        <p:spPr>
          <a:xfrm>
            <a:off x="429768" y="4361688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Jupyter notebooks — EDA, feature engineering, experiments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3"/>
          <p:cNvSpPr/>
          <p:nvPr/>
        </p:nvSpPr>
        <p:spPr>
          <a:xfrm>
            <a:off x="4754880" y="896112"/>
            <a:ext cx="4069080" cy="658368"/>
          </a:xfrm>
          <a:prstGeom prst="rect">
            <a:avLst/>
          </a:prstGeom>
          <a:solidFill>
            <a:srgbClr val="D6EAF8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3"/>
          <p:cNvSpPr/>
          <p:nvPr/>
        </p:nvSpPr>
        <p:spPr>
          <a:xfrm>
            <a:off x="4864608" y="941832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1B3A5C"/>
                </a:solidFill>
                <a:latin typeface="Consolas"/>
                <a:ea typeface="Consolas"/>
                <a:cs typeface="Consolas"/>
                <a:sym typeface="Consolas"/>
              </a:rPr>
              <a:t>preprocessing/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3"/>
          <p:cNvSpPr/>
          <p:nvPr/>
        </p:nvSpPr>
        <p:spPr>
          <a:xfrm>
            <a:off x="4864608" y="1216152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Scripts: clean &amp; transform raw CSV before ML training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3"/>
          <p:cNvSpPr/>
          <p:nvPr/>
        </p:nvSpPr>
        <p:spPr>
          <a:xfrm>
            <a:off x="4754880" y="1682496"/>
            <a:ext cx="4069080" cy="658368"/>
          </a:xfrm>
          <a:prstGeom prst="rect">
            <a:avLst/>
          </a:prstGeom>
          <a:solidFill>
            <a:srgbClr val="C8F0EB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3"/>
          <p:cNvSpPr/>
          <p:nvPr/>
        </p:nvSpPr>
        <p:spPr>
          <a:xfrm>
            <a:off x="4864608" y="1728216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1B3A5C"/>
                </a:solidFill>
                <a:latin typeface="Consolas"/>
                <a:ea typeface="Consolas"/>
                <a:cs typeface="Consolas"/>
                <a:sym typeface="Consolas"/>
              </a:rPr>
              <a:t>training/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3"/>
          <p:cNvSpPr/>
          <p:nvPr/>
        </p:nvSpPr>
        <p:spPr>
          <a:xfrm>
            <a:off x="4864608" y="2002536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Scripts: train scikit-learn models, export .joblib files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3"/>
          <p:cNvSpPr/>
          <p:nvPr/>
        </p:nvSpPr>
        <p:spPr>
          <a:xfrm>
            <a:off x="4754880" y="2468880"/>
            <a:ext cx="4069080" cy="658368"/>
          </a:xfrm>
          <a:prstGeom prst="rect">
            <a:avLst/>
          </a:prstGeom>
          <a:solidFill>
            <a:srgbClr val="F3E5F5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3"/>
          <p:cNvSpPr/>
          <p:nvPr/>
        </p:nvSpPr>
        <p:spPr>
          <a:xfrm>
            <a:off x="4864608" y="251460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1B3A5C"/>
                </a:solidFill>
                <a:latin typeface="Consolas"/>
                <a:ea typeface="Consolas"/>
                <a:cs typeface="Consolas"/>
                <a:sym typeface="Consolas"/>
              </a:rPr>
              <a:t>SentiCare SRS/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3"/>
          <p:cNvSpPr/>
          <p:nvPr/>
        </p:nvSpPr>
        <p:spPr>
          <a:xfrm>
            <a:off x="4864608" y="2788920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Software Requirements Specification (functional &amp; non-func.)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3"/>
          <p:cNvSpPr/>
          <p:nvPr/>
        </p:nvSpPr>
        <p:spPr>
          <a:xfrm>
            <a:off x="4754880" y="3255264"/>
            <a:ext cx="4069080" cy="658368"/>
          </a:xfrm>
          <a:prstGeom prst="rect">
            <a:avLst/>
          </a:prstGeom>
          <a:solidFill>
            <a:srgbClr val="F3E5F5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3"/>
          <p:cNvSpPr/>
          <p:nvPr/>
        </p:nvSpPr>
        <p:spPr>
          <a:xfrm>
            <a:off x="4864608" y="3300984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1B3A5C"/>
                </a:solidFill>
                <a:latin typeface="Consolas"/>
                <a:ea typeface="Consolas"/>
                <a:cs typeface="Consolas"/>
                <a:sym typeface="Consolas"/>
              </a:rPr>
              <a:t>Design Document/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3"/>
          <p:cNvSpPr/>
          <p:nvPr/>
        </p:nvSpPr>
        <p:spPr>
          <a:xfrm>
            <a:off x="4864608" y="3575304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Technical design doc, architecture diagrams, data models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3"/>
          <p:cNvSpPr/>
          <p:nvPr/>
        </p:nvSpPr>
        <p:spPr>
          <a:xfrm>
            <a:off x="4754880" y="4041648"/>
            <a:ext cx="4069080" cy="658368"/>
          </a:xfrm>
          <a:prstGeom prst="rect">
            <a:avLst/>
          </a:prstGeom>
          <a:solidFill>
            <a:srgbClr val="EDE8F7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3"/>
          <p:cNvSpPr/>
          <p:nvPr/>
        </p:nvSpPr>
        <p:spPr>
          <a:xfrm>
            <a:off x="4864608" y="4087368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1B3A5C"/>
                </a:solidFill>
                <a:latin typeface="Consolas"/>
                <a:ea typeface="Consolas"/>
                <a:cs typeface="Consolas"/>
                <a:sym typeface="Consolas"/>
              </a:rPr>
              <a:t>SentiCare Diagrams/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3"/>
          <p:cNvSpPr/>
          <p:nvPr/>
        </p:nvSpPr>
        <p:spPr>
          <a:xfrm>
            <a:off x="4864608" y="4361688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UML: Class, ER, Sequence, Use Case diagrams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4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4"/>
          <p:cNvSpPr/>
          <p:nvPr/>
        </p:nvSpPr>
        <p:spPr>
          <a:xfrm>
            <a:off x="640080" y="1645920"/>
            <a:ext cx="77724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&amp; Machine Learning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4"/>
          <p:cNvSpPr/>
          <p:nvPr/>
        </p:nvSpPr>
        <p:spPr>
          <a:xfrm>
            <a:off x="640080" y="283464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Training, models, and fusion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5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5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Dataset — Kaggle Student Mental Health Survey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5"/>
          <p:cNvSpPr/>
          <p:nvPr/>
        </p:nvSpPr>
        <p:spPr>
          <a:xfrm>
            <a:off x="320040" y="896112"/>
            <a:ext cx="5029200" cy="658368"/>
          </a:xfrm>
          <a:prstGeom prst="rect">
            <a:avLst/>
          </a:prstGeom>
          <a:solidFill>
            <a:srgbClr val="C8F0EB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5"/>
          <p:cNvSpPr/>
          <p:nvPr/>
        </p:nvSpPr>
        <p:spPr>
          <a:xfrm>
            <a:off x="457200" y="914400"/>
            <a:ext cx="1280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Source: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5"/>
          <p:cNvSpPr/>
          <p:nvPr/>
        </p:nvSpPr>
        <p:spPr>
          <a:xfrm>
            <a:off x="1691640" y="914400"/>
            <a:ext cx="3474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Kaggle – Student Mental Health Survey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5"/>
          <p:cNvSpPr/>
          <p:nvPr/>
        </p:nvSpPr>
        <p:spPr>
          <a:xfrm>
            <a:off x="320040" y="1682496"/>
            <a:ext cx="5029200" cy="658368"/>
          </a:xfrm>
          <a:prstGeom prst="rect">
            <a:avLst/>
          </a:prstGeom>
          <a:solidFill>
            <a:srgbClr val="F4F8FB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5"/>
          <p:cNvSpPr/>
          <p:nvPr/>
        </p:nvSpPr>
        <p:spPr>
          <a:xfrm>
            <a:off x="457200" y="1700784"/>
            <a:ext cx="1280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Format: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5"/>
          <p:cNvSpPr/>
          <p:nvPr/>
        </p:nvSpPr>
        <p:spPr>
          <a:xfrm>
            <a:off x="1691640" y="1700784"/>
            <a:ext cx="3474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CSV (structured survey responses)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5"/>
          <p:cNvSpPr/>
          <p:nvPr/>
        </p:nvSpPr>
        <p:spPr>
          <a:xfrm>
            <a:off x="320040" y="2468880"/>
            <a:ext cx="5029200" cy="658368"/>
          </a:xfrm>
          <a:prstGeom prst="rect">
            <a:avLst/>
          </a:prstGeom>
          <a:solidFill>
            <a:srgbClr val="C8F0EB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5"/>
          <p:cNvSpPr/>
          <p:nvPr/>
        </p:nvSpPr>
        <p:spPr>
          <a:xfrm>
            <a:off x="457200" y="2487168"/>
            <a:ext cx="1280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Targets: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5"/>
          <p:cNvSpPr/>
          <p:nvPr/>
        </p:nvSpPr>
        <p:spPr>
          <a:xfrm>
            <a:off x="1691640" y="2487168"/>
            <a:ext cx="3474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Anxiety · Stress · Depression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5"/>
          <p:cNvSpPr/>
          <p:nvPr/>
        </p:nvSpPr>
        <p:spPr>
          <a:xfrm>
            <a:off x="320040" y="3255264"/>
            <a:ext cx="5029200" cy="658368"/>
          </a:xfrm>
          <a:prstGeom prst="rect">
            <a:avLst/>
          </a:prstGeom>
          <a:solidFill>
            <a:srgbClr val="F4F8FB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5"/>
          <p:cNvSpPr/>
          <p:nvPr/>
        </p:nvSpPr>
        <p:spPr>
          <a:xfrm>
            <a:off x="457200" y="3273552"/>
            <a:ext cx="1280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Labels: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5"/>
          <p:cNvSpPr/>
          <p:nvPr/>
        </p:nvSpPr>
        <p:spPr>
          <a:xfrm>
            <a:off x="1691640" y="3273552"/>
            <a:ext cx="3474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Mild / Moderate / Severe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5"/>
          <p:cNvSpPr/>
          <p:nvPr/>
        </p:nvSpPr>
        <p:spPr>
          <a:xfrm>
            <a:off x="320040" y="4041648"/>
            <a:ext cx="5029200" cy="658368"/>
          </a:xfrm>
          <a:prstGeom prst="rect">
            <a:avLst/>
          </a:prstGeom>
          <a:solidFill>
            <a:srgbClr val="C8F0EB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5"/>
          <p:cNvSpPr/>
          <p:nvPr/>
        </p:nvSpPr>
        <p:spPr>
          <a:xfrm>
            <a:off x="457200" y="4059936"/>
            <a:ext cx="1280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Features: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5"/>
          <p:cNvSpPr/>
          <p:nvPr/>
        </p:nvSpPr>
        <p:spPr>
          <a:xfrm>
            <a:off x="1691640" y="4059936"/>
            <a:ext cx="3474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Sleep hours, stress score, academic performance,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social withdrawal, mood ratings (GAD-7 / PHQ-9 style)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5"/>
          <p:cNvSpPr/>
          <p:nvPr/>
        </p:nvSpPr>
        <p:spPr>
          <a:xfrm>
            <a:off x="5669280" y="82296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Data Pipeline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5"/>
          <p:cNvSpPr/>
          <p:nvPr/>
        </p:nvSpPr>
        <p:spPr>
          <a:xfrm>
            <a:off x="5669280" y="1234440"/>
            <a:ext cx="3108960" cy="475488"/>
          </a:xfrm>
          <a:prstGeom prst="rect">
            <a:avLst/>
          </a:prstGeom>
          <a:solidFill>
            <a:srgbClr val="D6EAF8"/>
          </a:solidFill>
          <a:ln cap="flat" cmpd="sng" w="9525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5"/>
          <p:cNvSpPr/>
          <p:nvPr/>
        </p:nvSpPr>
        <p:spPr>
          <a:xfrm>
            <a:off x="5760720" y="1261872"/>
            <a:ext cx="2926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1. Load CSV with pandas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5"/>
          <p:cNvSpPr/>
          <p:nvPr/>
        </p:nvSpPr>
        <p:spPr>
          <a:xfrm>
            <a:off x="5669280" y="1801368"/>
            <a:ext cx="3108960" cy="475488"/>
          </a:xfrm>
          <a:prstGeom prst="rect">
            <a:avLst/>
          </a:prstGeom>
          <a:solidFill>
            <a:srgbClr val="EDE8F7"/>
          </a:solidFill>
          <a:ln cap="flat" cmpd="sng" w="9525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5"/>
          <p:cNvSpPr/>
          <p:nvPr/>
        </p:nvSpPr>
        <p:spPr>
          <a:xfrm>
            <a:off x="5760720" y="1828800"/>
            <a:ext cx="2926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2. Drop nulls &amp; outliers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5"/>
          <p:cNvSpPr/>
          <p:nvPr/>
        </p:nvSpPr>
        <p:spPr>
          <a:xfrm>
            <a:off x="5669280" y="2368296"/>
            <a:ext cx="3108960" cy="475488"/>
          </a:xfrm>
          <a:prstGeom prst="rect">
            <a:avLst/>
          </a:prstGeom>
          <a:solidFill>
            <a:srgbClr val="D6EAF8"/>
          </a:solidFill>
          <a:ln cap="flat" cmpd="sng" w="9525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5"/>
          <p:cNvSpPr/>
          <p:nvPr/>
        </p:nvSpPr>
        <p:spPr>
          <a:xfrm>
            <a:off x="5760720" y="2395728"/>
            <a:ext cx="2926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3. Label encode targets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5"/>
          <p:cNvSpPr/>
          <p:nvPr/>
        </p:nvSpPr>
        <p:spPr>
          <a:xfrm>
            <a:off x="5669280" y="2935224"/>
            <a:ext cx="3108960" cy="475488"/>
          </a:xfrm>
          <a:prstGeom prst="rect">
            <a:avLst/>
          </a:prstGeom>
          <a:solidFill>
            <a:srgbClr val="EDE8F7"/>
          </a:solidFill>
          <a:ln cap="flat" cmpd="sng" w="9525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5"/>
          <p:cNvSpPr/>
          <p:nvPr/>
        </p:nvSpPr>
        <p:spPr>
          <a:xfrm>
            <a:off x="5760720" y="2962656"/>
            <a:ext cx="2926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4. StandardScaler on features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5"/>
          <p:cNvSpPr/>
          <p:nvPr/>
        </p:nvSpPr>
        <p:spPr>
          <a:xfrm>
            <a:off x="5669280" y="3502152"/>
            <a:ext cx="3108960" cy="475488"/>
          </a:xfrm>
          <a:prstGeom prst="rect">
            <a:avLst/>
          </a:prstGeom>
          <a:solidFill>
            <a:srgbClr val="D6EAF8"/>
          </a:solidFill>
          <a:ln cap="flat" cmpd="sng" w="9525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5"/>
          <p:cNvSpPr/>
          <p:nvPr/>
        </p:nvSpPr>
        <p:spPr>
          <a:xfrm>
            <a:off x="5760720" y="3529584"/>
            <a:ext cx="2926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5. Train/Test split (80/20)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5"/>
          <p:cNvSpPr/>
          <p:nvPr/>
        </p:nvSpPr>
        <p:spPr>
          <a:xfrm>
            <a:off x="5669280" y="4069080"/>
            <a:ext cx="3108960" cy="475488"/>
          </a:xfrm>
          <a:prstGeom prst="rect">
            <a:avLst/>
          </a:prstGeom>
          <a:solidFill>
            <a:srgbClr val="EDE8F7"/>
          </a:solidFill>
          <a:ln cap="flat" cmpd="sng" w="9525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5"/>
          <p:cNvSpPr/>
          <p:nvPr/>
        </p:nvSpPr>
        <p:spPr>
          <a:xfrm>
            <a:off x="5760720" y="4096512"/>
            <a:ext cx="2926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6. Train → save .joblib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6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6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Machine Learning Models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6"/>
          <p:cNvSpPr/>
          <p:nvPr/>
        </p:nvSpPr>
        <p:spPr>
          <a:xfrm>
            <a:off x="365760" y="914400"/>
            <a:ext cx="8412480" cy="1051560"/>
          </a:xfrm>
          <a:prstGeom prst="rect">
            <a:avLst/>
          </a:prstGeom>
          <a:solidFill>
            <a:srgbClr val="C8F0EB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6"/>
          <p:cNvSpPr/>
          <p:nvPr/>
        </p:nvSpPr>
        <p:spPr>
          <a:xfrm>
            <a:off x="365760" y="914400"/>
            <a:ext cx="228600" cy="105156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6"/>
          <p:cNvSpPr/>
          <p:nvPr/>
        </p:nvSpPr>
        <p:spPr>
          <a:xfrm>
            <a:off x="685800" y="960120"/>
            <a:ext cx="7772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Random Forest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6"/>
          <p:cNvSpPr/>
          <p:nvPr/>
        </p:nvSpPr>
        <p:spPr>
          <a:xfrm>
            <a:off x="685800" y="1298448"/>
            <a:ext cx="77724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Ensemble of decision trees. Handles tabular survey data well. Resistant to overfitting.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6"/>
          <p:cNvSpPr/>
          <p:nvPr/>
        </p:nvSpPr>
        <p:spPr>
          <a:xfrm>
            <a:off x="365760" y="2148840"/>
            <a:ext cx="8412480" cy="1051560"/>
          </a:xfrm>
          <a:prstGeom prst="rect">
            <a:avLst/>
          </a:prstGeom>
          <a:solidFill>
            <a:srgbClr val="EDE8F7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6"/>
          <p:cNvSpPr/>
          <p:nvPr/>
        </p:nvSpPr>
        <p:spPr>
          <a:xfrm>
            <a:off x="365760" y="2148840"/>
            <a:ext cx="228600" cy="105156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6"/>
          <p:cNvSpPr/>
          <p:nvPr/>
        </p:nvSpPr>
        <p:spPr>
          <a:xfrm>
            <a:off x="685800" y="2194560"/>
            <a:ext cx="7772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SVM (Support Vector Machine)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6"/>
          <p:cNvSpPr/>
          <p:nvPr/>
        </p:nvSpPr>
        <p:spPr>
          <a:xfrm>
            <a:off x="685800" y="2532888"/>
            <a:ext cx="77724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Effective with small datasets. Finds optimal hyperplane for 3-class classification.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6"/>
          <p:cNvSpPr/>
          <p:nvPr/>
        </p:nvSpPr>
        <p:spPr>
          <a:xfrm>
            <a:off x="365760" y="3383280"/>
            <a:ext cx="8412480" cy="1051560"/>
          </a:xfrm>
          <a:prstGeom prst="rect">
            <a:avLst/>
          </a:prstGeom>
          <a:solidFill>
            <a:srgbClr val="D6EAF8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6"/>
          <p:cNvSpPr/>
          <p:nvPr/>
        </p:nvSpPr>
        <p:spPr>
          <a:xfrm>
            <a:off x="365760" y="3383280"/>
            <a:ext cx="228600" cy="105156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6"/>
          <p:cNvSpPr/>
          <p:nvPr/>
        </p:nvSpPr>
        <p:spPr>
          <a:xfrm>
            <a:off x="685800" y="3429000"/>
            <a:ext cx="7772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Logistic Regression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6"/>
          <p:cNvSpPr/>
          <p:nvPr/>
        </p:nvSpPr>
        <p:spPr>
          <a:xfrm>
            <a:off x="685800" y="3767328"/>
            <a:ext cx="77724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Baseline model. Interpretable coefficients. Fast training.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6"/>
          <p:cNvSpPr/>
          <p:nvPr/>
        </p:nvSpPr>
        <p:spPr>
          <a:xfrm>
            <a:off x="365760" y="4617720"/>
            <a:ext cx="8412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Fusion Strategy: Voice emotion score is blended with survey prediction to adjust final severity label before saving to MongoDB.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7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7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 Accuracy Comparison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33" name="Google Shape;33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822960"/>
            <a:ext cx="5303520" cy="3840480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17"/>
          <p:cNvSpPr/>
          <p:nvPr/>
        </p:nvSpPr>
        <p:spPr>
          <a:xfrm>
            <a:off x="5852160" y="1005840"/>
            <a:ext cx="2971800" cy="777240"/>
          </a:xfrm>
          <a:prstGeom prst="rect">
            <a:avLst/>
          </a:prstGeom>
          <a:solidFill>
            <a:srgbClr val="C8F0EB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7"/>
          <p:cNvSpPr/>
          <p:nvPr/>
        </p:nvSpPr>
        <p:spPr>
          <a:xfrm>
            <a:off x="5989320" y="105156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Best Model: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7"/>
          <p:cNvSpPr/>
          <p:nvPr/>
        </p:nvSpPr>
        <p:spPr>
          <a:xfrm>
            <a:off x="5989320" y="1307592"/>
            <a:ext cx="2743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Random Forest – 87% accuracy on test set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7"/>
          <p:cNvSpPr/>
          <p:nvPr/>
        </p:nvSpPr>
        <p:spPr>
          <a:xfrm>
            <a:off x="5852160" y="1965960"/>
            <a:ext cx="2971800" cy="777240"/>
          </a:xfrm>
          <a:prstGeom prst="rect">
            <a:avLst/>
          </a:prstGeom>
          <a:solidFill>
            <a:srgbClr val="EDE8F7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7"/>
          <p:cNvSpPr/>
          <p:nvPr/>
        </p:nvSpPr>
        <p:spPr>
          <a:xfrm>
            <a:off x="5989320" y="201168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Classes: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7"/>
          <p:cNvSpPr/>
          <p:nvPr/>
        </p:nvSpPr>
        <p:spPr>
          <a:xfrm>
            <a:off x="5989320" y="2267712"/>
            <a:ext cx="2743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Anxiety / Stress / Depression (mild–severe)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7"/>
          <p:cNvSpPr/>
          <p:nvPr/>
        </p:nvSpPr>
        <p:spPr>
          <a:xfrm>
            <a:off x="5852160" y="2926080"/>
            <a:ext cx="2971800" cy="777240"/>
          </a:xfrm>
          <a:prstGeom prst="rect">
            <a:avLst/>
          </a:prstGeom>
          <a:solidFill>
            <a:srgbClr val="C8F0EB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7"/>
          <p:cNvSpPr/>
          <p:nvPr/>
        </p:nvSpPr>
        <p:spPr>
          <a:xfrm>
            <a:off x="5989320" y="2971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Metric: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7"/>
          <p:cNvSpPr/>
          <p:nvPr/>
        </p:nvSpPr>
        <p:spPr>
          <a:xfrm>
            <a:off x="5989320" y="3227832"/>
            <a:ext cx="2743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Weighted F1-score used (imbalanced classes)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7"/>
          <p:cNvSpPr/>
          <p:nvPr/>
        </p:nvSpPr>
        <p:spPr>
          <a:xfrm>
            <a:off x="5852160" y="3886200"/>
            <a:ext cx="2971800" cy="777240"/>
          </a:xfrm>
          <a:prstGeom prst="rect">
            <a:avLst/>
          </a:prstGeom>
          <a:solidFill>
            <a:srgbClr val="EDE8F7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7"/>
          <p:cNvSpPr/>
          <p:nvPr/>
        </p:nvSpPr>
        <p:spPr>
          <a:xfrm>
            <a:off x="5989320" y="393192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Saved as: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7"/>
          <p:cNvSpPr/>
          <p:nvPr/>
        </p:nvSpPr>
        <p:spPr>
          <a:xfrm>
            <a:off x="5989320" y="4187952"/>
            <a:ext cx="2743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artifacts/*.joblib via joblib.dump()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8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8"/>
          <p:cNvSpPr/>
          <p:nvPr/>
        </p:nvSpPr>
        <p:spPr>
          <a:xfrm>
            <a:off x="640080" y="1645920"/>
            <a:ext cx="77724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Backend API (Flask)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8"/>
          <p:cNvSpPr/>
          <p:nvPr/>
        </p:nvSpPr>
        <p:spPr>
          <a:xfrm>
            <a:off x="640080" y="283464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REST endpoints &amp; business logic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9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9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Flask API Endpoints — backend/app.py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9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9"/>
          <p:cNvSpPr/>
          <p:nvPr/>
        </p:nvSpPr>
        <p:spPr>
          <a:xfrm>
            <a:off x="320040" y="868680"/>
            <a:ext cx="4069080" cy="1170432"/>
          </a:xfrm>
          <a:prstGeom prst="rect">
            <a:avLst/>
          </a:prstGeom>
          <a:solidFill>
            <a:srgbClr val="C8F0EB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9"/>
          <p:cNvSpPr/>
          <p:nvPr/>
        </p:nvSpPr>
        <p:spPr>
          <a:xfrm>
            <a:off x="320040" y="868680"/>
            <a:ext cx="822960" cy="384048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9"/>
          <p:cNvSpPr/>
          <p:nvPr/>
        </p:nvSpPr>
        <p:spPr>
          <a:xfrm>
            <a:off x="320040" y="868680"/>
            <a:ext cx="822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POST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9"/>
          <p:cNvSpPr/>
          <p:nvPr/>
        </p:nvSpPr>
        <p:spPr>
          <a:xfrm>
            <a:off x="1234440" y="914400"/>
            <a:ext cx="3017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1B3A5C"/>
                </a:solidFill>
                <a:latin typeface="Consolas"/>
                <a:ea typeface="Consolas"/>
                <a:cs typeface="Consolas"/>
                <a:sym typeface="Consolas"/>
              </a:rPr>
              <a:t>/voice-intro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9"/>
          <p:cNvSpPr/>
          <p:nvPr/>
        </p:nvSpPr>
        <p:spPr>
          <a:xfrm>
            <a:off x="411480" y="1289304"/>
            <a:ext cx="3886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Receives pitch/tone/MFCC. Detects dominant emotion. Saves session + biomarkers to MongoDB. Returns emotion label + confidence.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9"/>
          <p:cNvSpPr/>
          <p:nvPr/>
        </p:nvSpPr>
        <p:spPr>
          <a:xfrm>
            <a:off x="320040" y="2221992"/>
            <a:ext cx="4069080" cy="1170432"/>
          </a:xfrm>
          <a:prstGeom prst="rect">
            <a:avLst/>
          </a:prstGeom>
          <a:solidFill>
            <a:srgbClr val="EDE8F7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9"/>
          <p:cNvSpPr/>
          <p:nvPr/>
        </p:nvSpPr>
        <p:spPr>
          <a:xfrm>
            <a:off x="320040" y="2221992"/>
            <a:ext cx="822960" cy="384048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9"/>
          <p:cNvSpPr/>
          <p:nvPr/>
        </p:nvSpPr>
        <p:spPr>
          <a:xfrm>
            <a:off x="320040" y="2221992"/>
            <a:ext cx="822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POST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9"/>
          <p:cNvSpPr/>
          <p:nvPr/>
        </p:nvSpPr>
        <p:spPr>
          <a:xfrm>
            <a:off x="1234440" y="2267712"/>
            <a:ext cx="3017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1B3A5C"/>
                </a:solidFill>
                <a:latin typeface="Consolas"/>
                <a:ea typeface="Consolas"/>
                <a:cs typeface="Consolas"/>
                <a:sym typeface="Consolas"/>
              </a:rPr>
              <a:t>/predict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9"/>
          <p:cNvSpPr/>
          <p:nvPr/>
        </p:nvSpPr>
        <p:spPr>
          <a:xfrm>
            <a:off x="411480" y="2642616"/>
            <a:ext cx="3886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Receives questionnaire answers + voice emotion. Runs joblib ML pipeline. Returns condition + severity. Saves prediction to MongoDB.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9"/>
          <p:cNvSpPr/>
          <p:nvPr/>
        </p:nvSpPr>
        <p:spPr>
          <a:xfrm>
            <a:off x="320040" y="3575304"/>
            <a:ext cx="4069080" cy="1170432"/>
          </a:xfrm>
          <a:prstGeom prst="rect">
            <a:avLst/>
          </a:prstGeom>
          <a:solidFill>
            <a:srgbClr val="D6EAF8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9"/>
          <p:cNvSpPr/>
          <p:nvPr/>
        </p:nvSpPr>
        <p:spPr>
          <a:xfrm>
            <a:off x="320040" y="3575304"/>
            <a:ext cx="822960" cy="384048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9"/>
          <p:cNvSpPr/>
          <p:nvPr/>
        </p:nvSpPr>
        <p:spPr>
          <a:xfrm>
            <a:off x="320040" y="3575304"/>
            <a:ext cx="822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POST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9"/>
          <p:cNvSpPr/>
          <p:nvPr/>
        </p:nvSpPr>
        <p:spPr>
          <a:xfrm>
            <a:off x="1234440" y="3621024"/>
            <a:ext cx="3017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1B3A5C"/>
                </a:solidFill>
                <a:latin typeface="Consolas"/>
                <a:ea typeface="Consolas"/>
                <a:cs typeface="Consolas"/>
                <a:sym typeface="Consolas"/>
              </a:rPr>
              <a:t>/chat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9"/>
          <p:cNvSpPr/>
          <p:nvPr/>
        </p:nvSpPr>
        <p:spPr>
          <a:xfrm>
            <a:off x="411480" y="3995928"/>
            <a:ext cx="3886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Receives user message + session ID. Generates empathetic response with coping suggestions. Saves to chat_history. Returns reply.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9"/>
          <p:cNvSpPr/>
          <p:nvPr/>
        </p:nvSpPr>
        <p:spPr>
          <a:xfrm>
            <a:off x="4754880" y="868680"/>
            <a:ext cx="4069080" cy="1170432"/>
          </a:xfrm>
          <a:prstGeom prst="rect">
            <a:avLst/>
          </a:prstGeom>
          <a:solidFill>
            <a:srgbClr val="FFF3E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9"/>
          <p:cNvSpPr/>
          <p:nvPr/>
        </p:nvSpPr>
        <p:spPr>
          <a:xfrm>
            <a:off x="4754880" y="868680"/>
            <a:ext cx="822960" cy="384048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9"/>
          <p:cNvSpPr/>
          <p:nvPr/>
        </p:nvSpPr>
        <p:spPr>
          <a:xfrm>
            <a:off x="4754880" y="868680"/>
            <a:ext cx="822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GET/POST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9"/>
          <p:cNvSpPr/>
          <p:nvPr/>
        </p:nvSpPr>
        <p:spPr>
          <a:xfrm>
            <a:off x="5669280" y="914400"/>
            <a:ext cx="3017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1B3A5C"/>
                </a:solidFill>
                <a:latin typeface="Consolas"/>
                <a:ea typeface="Consolas"/>
                <a:cs typeface="Consolas"/>
                <a:sym typeface="Consolas"/>
              </a:rPr>
              <a:t>/tts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9"/>
          <p:cNvSpPr/>
          <p:nvPr/>
        </p:nvSpPr>
        <p:spPr>
          <a:xfrm>
            <a:off x="4846320" y="1289304"/>
            <a:ext cx="3886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Receives text + language. Calls Edge-TTS or gTTS. Returns MP3 audio for browser playback. Supports English + Urdu.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9"/>
          <p:cNvSpPr/>
          <p:nvPr/>
        </p:nvSpPr>
        <p:spPr>
          <a:xfrm>
            <a:off x="4754880" y="2221992"/>
            <a:ext cx="4069080" cy="1170432"/>
          </a:xfrm>
          <a:prstGeom prst="rect">
            <a:avLst/>
          </a:prstGeom>
          <a:solidFill>
            <a:srgbClr val="F3E5F5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9"/>
          <p:cNvSpPr/>
          <p:nvPr/>
        </p:nvSpPr>
        <p:spPr>
          <a:xfrm>
            <a:off x="4754880" y="2221992"/>
            <a:ext cx="822960" cy="384048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9"/>
          <p:cNvSpPr/>
          <p:nvPr/>
        </p:nvSpPr>
        <p:spPr>
          <a:xfrm>
            <a:off x="4754880" y="2221992"/>
            <a:ext cx="822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POST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9"/>
          <p:cNvSpPr/>
          <p:nvPr/>
        </p:nvSpPr>
        <p:spPr>
          <a:xfrm>
            <a:off x="5669280" y="2267712"/>
            <a:ext cx="3017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1B3A5C"/>
                </a:solidFill>
                <a:latin typeface="Consolas"/>
                <a:ea typeface="Consolas"/>
                <a:cs typeface="Consolas"/>
                <a:sym typeface="Consolas"/>
              </a:rPr>
              <a:t>/feedback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9"/>
          <p:cNvSpPr/>
          <p:nvPr/>
        </p:nvSpPr>
        <p:spPr>
          <a:xfrm>
            <a:off x="4846320" y="2642616"/>
            <a:ext cx="3886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Receives thumbs up/down vote. Saves to feedback collection with +1/-1 reward for future RLHF training.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9"/>
          <p:cNvSpPr/>
          <p:nvPr/>
        </p:nvSpPr>
        <p:spPr>
          <a:xfrm>
            <a:off x="4754880" y="3575304"/>
            <a:ext cx="4069080" cy="1170432"/>
          </a:xfrm>
          <a:prstGeom prst="rect">
            <a:avLst/>
          </a:prstGeom>
          <a:solidFill>
            <a:srgbClr val="E8F5E9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9"/>
          <p:cNvSpPr/>
          <p:nvPr/>
        </p:nvSpPr>
        <p:spPr>
          <a:xfrm>
            <a:off x="4754880" y="3575304"/>
            <a:ext cx="822960" cy="384048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9"/>
          <p:cNvSpPr/>
          <p:nvPr/>
        </p:nvSpPr>
        <p:spPr>
          <a:xfrm>
            <a:off x="4754880" y="3575304"/>
            <a:ext cx="822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9"/>
          <p:cNvSpPr/>
          <p:nvPr/>
        </p:nvSpPr>
        <p:spPr>
          <a:xfrm>
            <a:off x="5669280" y="3621024"/>
            <a:ext cx="3017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1B3A5C"/>
                </a:solidFill>
                <a:latin typeface="Consolas"/>
                <a:ea typeface="Consolas"/>
                <a:cs typeface="Consolas"/>
                <a:sym typeface="Consolas"/>
              </a:rPr>
              <a:t>/history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9"/>
          <p:cNvSpPr/>
          <p:nvPr/>
        </p:nvSpPr>
        <p:spPr>
          <a:xfrm>
            <a:off x="4846320" y="3995928"/>
            <a:ext cx="3886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Returns emotion history from MongoDB for current session. Used by React Recharts to render trend graphs.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2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20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Backend Logic: /predict Flow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2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20"/>
          <p:cNvSpPr/>
          <p:nvPr/>
        </p:nvSpPr>
        <p:spPr>
          <a:xfrm>
            <a:off x="365760" y="868680"/>
            <a:ext cx="8412480" cy="566928"/>
          </a:xfrm>
          <a:prstGeom prst="rect">
            <a:avLst/>
          </a:prstGeom>
          <a:solidFill>
            <a:srgbClr val="EDE8F7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20"/>
          <p:cNvSpPr/>
          <p:nvPr/>
        </p:nvSpPr>
        <p:spPr>
          <a:xfrm>
            <a:off x="365760" y="868680"/>
            <a:ext cx="502920" cy="566928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20"/>
          <p:cNvSpPr/>
          <p:nvPr/>
        </p:nvSpPr>
        <p:spPr>
          <a:xfrm>
            <a:off x="365760" y="868680"/>
            <a:ext cx="502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0"/>
          <p:cNvSpPr/>
          <p:nvPr/>
        </p:nvSpPr>
        <p:spPr>
          <a:xfrm>
            <a:off x="960120" y="896112"/>
            <a:ext cx="7680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React sends JSON: {answers, voice_emotion, session_id}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20"/>
          <p:cNvSpPr/>
          <p:nvPr/>
        </p:nvSpPr>
        <p:spPr>
          <a:xfrm>
            <a:off x="4297680" y="142646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20"/>
          <p:cNvSpPr/>
          <p:nvPr/>
        </p:nvSpPr>
        <p:spPr>
          <a:xfrm>
            <a:off x="365760" y="1536192"/>
            <a:ext cx="8412480" cy="566928"/>
          </a:xfrm>
          <a:prstGeom prst="rect">
            <a:avLst/>
          </a:prstGeom>
          <a:solidFill>
            <a:srgbClr val="C8F0EB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20"/>
          <p:cNvSpPr/>
          <p:nvPr/>
        </p:nvSpPr>
        <p:spPr>
          <a:xfrm>
            <a:off x="365760" y="1536192"/>
            <a:ext cx="502920" cy="566928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20"/>
          <p:cNvSpPr/>
          <p:nvPr/>
        </p:nvSpPr>
        <p:spPr>
          <a:xfrm>
            <a:off x="365760" y="1536192"/>
            <a:ext cx="502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20"/>
          <p:cNvSpPr/>
          <p:nvPr/>
        </p:nvSpPr>
        <p:spPr>
          <a:xfrm>
            <a:off x="960120" y="1563624"/>
            <a:ext cx="7680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Flask loads preprocessor.joblib → transforms answers to feature vector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20"/>
          <p:cNvSpPr/>
          <p:nvPr/>
        </p:nvSpPr>
        <p:spPr>
          <a:xfrm>
            <a:off x="4297680" y="2093976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20"/>
          <p:cNvSpPr/>
          <p:nvPr/>
        </p:nvSpPr>
        <p:spPr>
          <a:xfrm>
            <a:off x="365760" y="2203704"/>
            <a:ext cx="8412480" cy="566928"/>
          </a:xfrm>
          <a:prstGeom prst="rect">
            <a:avLst/>
          </a:prstGeom>
          <a:solidFill>
            <a:srgbClr val="D6EAF8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20"/>
          <p:cNvSpPr/>
          <p:nvPr/>
        </p:nvSpPr>
        <p:spPr>
          <a:xfrm>
            <a:off x="365760" y="2203704"/>
            <a:ext cx="502920" cy="566928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20"/>
          <p:cNvSpPr/>
          <p:nvPr/>
        </p:nvSpPr>
        <p:spPr>
          <a:xfrm>
            <a:off x="365760" y="2203704"/>
            <a:ext cx="502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0"/>
          <p:cNvSpPr/>
          <p:nvPr/>
        </p:nvSpPr>
        <p:spPr>
          <a:xfrm>
            <a:off x="960120" y="2231136"/>
            <a:ext cx="7680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Flask loads classifier.joblib → predicts condition + severity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20"/>
          <p:cNvSpPr/>
          <p:nvPr/>
        </p:nvSpPr>
        <p:spPr>
          <a:xfrm>
            <a:off x="4297680" y="27614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20"/>
          <p:cNvSpPr/>
          <p:nvPr/>
        </p:nvSpPr>
        <p:spPr>
          <a:xfrm>
            <a:off x="365760" y="2871216"/>
            <a:ext cx="8412480" cy="566928"/>
          </a:xfrm>
          <a:prstGeom prst="rect">
            <a:avLst/>
          </a:prstGeom>
          <a:solidFill>
            <a:srgbClr val="FFF3E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20"/>
          <p:cNvSpPr/>
          <p:nvPr/>
        </p:nvSpPr>
        <p:spPr>
          <a:xfrm>
            <a:off x="365760" y="2871216"/>
            <a:ext cx="502920" cy="566928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20"/>
          <p:cNvSpPr/>
          <p:nvPr/>
        </p:nvSpPr>
        <p:spPr>
          <a:xfrm>
            <a:off x="365760" y="2871216"/>
            <a:ext cx="502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0"/>
          <p:cNvSpPr/>
          <p:nvPr/>
        </p:nvSpPr>
        <p:spPr>
          <a:xfrm>
            <a:off x="960120" y="2898648"/>
            <a:ext cx="7680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Fusion: voice_emotion weight adjusts severity up/down by 1 level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20"/>
          <p:cNvSpPr/>
          <p:nvPr/>
        </p:nvSpPr>
        <p:spPr>
          <a:xfrm>
            <a:off x="4297680" y="342900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20"/>
          <p:cNvSpPr/>
          <p:nvPr/>
        </p:nvSpPr>
        <p:spPr>
          <a:xfrm>
            <a:off x="365760" y="3538728"/>
            <a:ext cx="8412480" cy="566928"/>
          </a:xfrm>
          <a:prstGeom prst="rect">
            <a:avLst/>
          </a:prstGeom>
          <a:solidFill>
            <a:srgbClr val="E8F5E9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20"/>
          <p:cNvSpPr/>
          <p:nvPr/>
        </p:nvSpPr>
        <p:spPr>
          <a:xfrm>
            <a:off x="365760" y="3538728"/>
            <a:ext cx="502920" cy="566928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20"/>
          <p:cNvSpPr/>
          <p:nvPr/>
        </p:nvSpPr>
        <p:spPr>
          <a:xfrm>
            <a:off x="365760" y="3538728"/>
            <a:ext cx="502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20"/>
          <p:cNvSpPr/>
          <p:nvPr/>
        </p:nvSpPr>
        <p:spPr>
          <a:xfrm>
            <a:off x="960120" y="3566160"/>
            <a:ext cx="7680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save_prediction() → stored in MongoDB predictions collection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20"/>
          <p:cNvSpPr/>
          <p:nvPr/>
        </p:nvSpPr>
        <p:spPr>
          <a:xfrm>
            <a:off x="4297680" y="4096512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20"/>
          <p:cNvSpPr/>
          <p:nvPr/>
        </p:nvSpPr>
        <p:spPr>
          <a:xfrm>
            <a:off x="365760" y="4206240"/>
            <a:ext cx="8412480" cy="566928"/>
          </a:xfrm>
          <a:prstGeom prst="rect">
            <a:avLst/>
          </a:prstGeom>
          <a:solidFill>
            <a:srgbClr val="EDE8F7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20"/>
          <p:cNvSpPr/>
          <p:nvPr/>
        </p:nvSpPr>
        <p:spPr>
          <a:xfrm>
            <a:off x="365760" y="4206240"/>
            <a:ext cx="502920" cy="566928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20"/>
          <p:cNvSpPr/>
          <p:nvPr/>
        </p:nvSpPr>
        <p:spPr>
          <a:xfrm>
            <a:off x="365760" y="4206240"/>
            <a:ext cx="502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20"/>
          <p:cNvSpPr/>
          <p:nvPr/>
        </p:nvSpPr>
        <p:spPr>
          <a:xfrm>
            <a:off x="960120" y="4233672"/>
            <a:ext cx="7680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Flask returns {condition, level, message} JSON to React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1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21"/>
          <p:cNvSpPr/>
          <p:nvPr/>
        </p:nvSpPr>
        <p:spPr>
          <a:xfrm>
            <a:off x="640080" y="1645920"/>
            <a:ext cx="77724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Frontend (React)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21"/>
          <p:cNvSpPr/>
          <p:nvPr/>
        </p:nvSpPr>
        <p:spPr>
          <a:xfrm>
            <a:off x="640080" y="283464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User experience &amp; interface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2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2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React Frontend — Key Components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2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22"/>
          <p:cNvSpPr/>
          <p:nvPr/>
        </p:nvSpPr>
        <p:spPr>
          <a:xfrm>
            <a:off x="320040" y="868680"/>
            <a:ext cx="4069080" cy="1170432"/>
          </a:xfrm>
          <a:prstGeom prst="rect">
            <a:avLst/>
          </a:prstGeom>
          <a:solidFill>
            <a:srgbClr val="EDE8F7"/>
          </a:solidFill>
          <a:ln cap="flat" cmpd="sng" w="12700">
            <a:solidFill>
              <a:srgbClr val="6B5EA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22"/>
          <p:cNvSpPr/>
          <p:nvPr/>
        </p:nvSpPr>
        <p:spPr>
          <a:xfrm>
            <a:off x="502920" y="960120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1B3A5C"/>
                </a:solidFill>
                <a:latin typeface="Consolas"/>
                <a:ea typeface="Consolas"/>
                <a:cs typeface="Consolas"/>
                <a:sym typeface="Consolas"/>
              </a:rPr>
              <a:t>VoiceCheckIn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22"/>
          <p:cNvSpPr/>
          <p:nvPr/>
        </p:nvSpPr>
        <p:spPr>
          <a:xfrm>
            <a:off x="502920" y="1325880"/>
            <a:ext cx="37490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Records 30s of user voice. Extracts pitch/tone/MFCC via Web Audio API. Sends to /voice-intro. Displays detected emotion.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22"/>
          <p:cNvSpPr/>
          <p:nvPr/>
        </p:nvSpPr>
        <p:spPr>
          <a:xfrm>
            <a:off x="320040" y="2221992"/>
            <a:ext cx="4069080" cy="1170432"/>
          </a:xfrm>
          <a:prstGeom prst="rect">
            <a:avLst/>
          </a:prstGeom>
          <a:solidFill>
            <a:srgbClr val="C8F0EB"/>
          </a:solidFill>
          <a:ln cap="flat" cmpd="sng" w="12700">
            <a:solidFill>
              <a:srgbClr val="6B5EA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22"/>
          <p:cNvSpPr/>
          <p:nvPr/>
        </p:nvSpPr>
        <p:spPr>
          <a:xfrm>
            <a:off x="502920" y="2313432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1B3A5C"/>
                </a:solidFill>
                <a:latin typeface="Consolas"/>
                <a:ea typeface="Consolas"/>
                <a:cs typeface="Consolas"/>
                <a:sym typeface="Consolas"/>
              </a:rPr>
              <a:t>TherapyCards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22"/>
          <p:cNvSpPr/>
          <p:nvPr/>
        </p:nvSpPr>
        <p:spPr>
          <a:xfrm>
            <a:off x="502920" y="2679192"/>
            <a:ext cx="37490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Renders GAD-7/PHQ-9 style questionnaire. Collects structured answers (sleep, stress, academic performance, social withdrawal).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22"/>
          <p:cNvSpPr/>
          <p:nvPr/>
        </p:nvSpPr>
        <p:spPr>
          <a:xfrm>
            <a:off x="320040" y="3575304"/>
            <a:ext cx="4069080" cy="1170432"/>
          </a:xfrm>
          <a:prstGeom prst="rect">
            <a:avLst/>
          </a:prstGeom>
          <a:solidFill>
            <a:srgbClr val="D6EAF8"/>
          </a:solidFill>
          <a:ln cap="flat" cmpd="sng" w="12700">
            <a:solidFill>
              <a:srgbClr val="6B5EA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22"/>
          <p:cNvSpPr/>
          <p:nvPr/>
        </p:nvSpPr>
        <p:spPr>
          <a:xfrm>
            <a:off x="502920" y="3666744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1B3A5C"/>
                </a:solidFill>
                <a:latin typeface="Consolas"/>
                <a:ea typeface="Consolas"/>
                <a:cs typeface="Consolas"/>
                <a:sym typeface="Consolas"/>
              </a:rPr>
              <a:t>ChatUI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22"/>
          <p:cNvSpPr/>
          <p:nvPr/>
        </p:nvSpPr>
        <p:spPr>
          <a:xfrm>
            <a:off x="502920" y="4032504"/>
            <a:ext cx="37490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Real-time chat interface with the therapeutic chatbot. Sends messages to /chat. Displays text + plays TTS audio automatically.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22"/>
          <p:cNvSpPr/>
          <p:nvPr/>
        </p:nvSpPr>
        <p:spPr>
          <a:xfrm>
            <a:off x="4754880" y="868680"/>
            <a:ext cx="4069080" cy="1170432"/>
          </a:xfrm>
          <a:prstGeom prst="rect">
            <a:avLst/>
          </a:prstGeom>
          <a:solidFill>
            <a:srgbClr val="FFF3E0"/>
          </a:solidFill>
          <a:ln cap="flat" cmpd="sng" w="12700">
            <a:solidFill>
              <a:srgbClr val="6B5EA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22"/>
          <p:cNvSpPr/>
          <p:nvPr/>
        </p:nvSpPr>
        <p:spPr>
          <a:xfrm>
            <a:off x="4937760" y="960120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1B3A5C"/>
                </a:solidFill>
                <a:latin typeface="Consolas"/>
                <a:ea typeface="Consolas"/>
                <a:cs typeface="Consolas"/>
                <a:sym typeface="Consolas"/>
              </a:rPr>
              <a:t>EmotionChart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22"/>
          <p:cNvSpPr/>
          <p:nvPr/>
        </p:nvSpPr>
        <p:spPr>
          <a:xfrm>
            <a:off x="4937760" y="1325880"/>
            <a:ext cx="37490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Recharts line/bar chart showing emotion scores over time. Fetches history from /history. Tracks user mood across sessions.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22"/>
          <p:cNvSpPr/>
          <p:nvPr/>
        </p:nvSpPr>
        <p:spPr>
          <a:xfrm>
            <a:off x="4754880" y="2221992"/>
            <a:ext cx="4069080" cy="1170432"/>
          </a:xfrm>
          <a:prstGeom prst="rect">
            <a:avLst/>
          </a:prstGeom>
          <a:solidFill>
            <a:srgbClr val="F3E5F5"/>
          </a:solidFill>
          <a:ln cap="flat" cmpd="sng" w="12700">
            <a:solidFill>
              <a:srgbClr val="6B5EA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22"/>
          <p:cNvSpPr/>
          <p:nvPr/>
        </p:nvSpPr>
        <p:spPr>
          <a:xfrm>
            <a:off x="4937760" y="2313432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1B3A5C"/>
                </a:solidFill>
                <a:latin typeface="Consolas"/>
                <a:ea typeface="Consolas"/>
                <a:cs typeface="Consolas"/>
                <a:sym typeface="Consolas"/>
              </a:rPr>
              <a:t>FeedbackBtn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22"/>
          <p:cNvSpPr/>
          <p:nvPr/>
        </p:nvSpPr>
        <p:spPr>
          <a:xfrm>
            <a:off x="4937760" y="2679192"/>
            <a:ext cx="37490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Thumbs up / thumbs down on each chatbot response. POSTs to /feedback with reward +1 or -1 for RLHF data collection.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22"/>
          <p:cNvSpPr/>
          <p:nvPr/>
        </p:nvSpPr>
        <p:spPr>
          <a:xfrm>
            <a:off x="4754880" y="3575304"/>
            <a:ext cx="4069080" cy="1170432"/>
          </a:xfrm>
          <a:prstGeom prst="rect">
            <a:avLst/>
          </a:prstGeom>
          <a:solidFill>
            <a:srgbClr val="E8F5E9"/>
          </a:solidFill>
          <a:ln cap="flat" cmpd="sng" w="12700">
            <a:solidFill>
              <a:srgbClr val="6B5EA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22"/>
          <p:cNvSpPr/>
          <p:nvPr/>
        </p:nvSpPr>
        <p:spPr>
          <a:xfrm>
            <a:off x="4937760" y="3666744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1B3A5C"/>
                </a:solidFill>
                <a:latin typeface="Consolas"/>
                <a:ea typeface="Consolas"/>
                <a:cs typeface="Consolas"/>
                <a:sym typeface="Consolas"/>
              </a:rPr>
              <a:t>App.jsx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22"/>
          <p:cNvSpPr/>
          <p:nvPr/>
        </p:nvSpPr>
        <p:spPr>
          <a:xfrm>
            <a:off x="4937760" y="4032504"/>
            <a:ext cx="37490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Root component. Manages global session state. Routes between VoiceCheckIn → Questionnaire → Chat → Charts.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23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23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9-Step User Journey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2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23"/>
          <p:cNvSpPr/>
          <p:nvPr/>
        </p:nvSpPr>
        <p:spPr>
          <a:xfrm>
            <a:off x="320040" y="868680"/>
            <a:ext cx="411480" cy="566928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23"/>
          <p:cNvSpPr/>
          <p:nvPr/>
        </p:nvSpPr>
        <p:spPr>
          <a:xfrm>
            <a:off x="320040" y="868680"/>
            <a:ext cx="411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23"/>
          <p:cNvSpPr/>
          <p:nvPr/>
        </p:nvSpPr>
        <p:spPr>
          <a:xfrm>
            <a:off x="731520" y="868680"/>
            <a:ext cx="3611880" cy="566928"/>
          </a:xfrm>
          <a:prstGeom prst="rect">
            <a:avLst/>
          </a:prstGeom>
          <a:solidFill>
            <a:srgbClr val="F4F8FB"/>
          </a:solidFill>
          <a:ln cap="flat" cmpd="sng" w="9525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23"/>
          <p:cNvSpPr/>
          <p:nvPr/>
        </p:nvSpPr>
        <p:spPr>
          <a:xfrm>
            <a:off x="822960" y="905256"/>
            <a:ext cx="34290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Open React app &amp; select language (EN / UR)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23"/>
          <p:cNvSpPr/>
          <p:nvPr/>
        </p:nvSpPr>
        <p:spPr>
          <a:xfrm>
            <a:off x="320040" y="1636776"/>
            <a:ext cx="411480" cy="566928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23"/>
          <p:cNvSpPr/>
          <p:nvPr/>
        </p:nvSpPr>
        <p:spPr>
          <a:xfrm>
            <a:off x="320040" y="1636776"/>
            <a:ext cx="411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23"/>
          <p:cNvSpPr/>
          <p:nvPr/>
        </p:nvSpPr>
        <p:spPr>
          <a:xfrm>
            <a:off x="731520" y="1636776"/>
            <a:ext cx="3611880" cy="566928"/>
          </a:xfrm>
          <a:prstGeom prst="rect">
            <a:avLst/>
          </a:prstGeom>
          <a:solidFill>
            <a:srgbClr val="C8F0EB"/>
          </a:solidFill>
          <a:ln cap="flat" cmpd="sng" w="9525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23"/>
          <p:cNvSpPr/>
          <p:nvPr/>
        </p:nvSpPr>
        <p:spPr>
          <a:xfrm>
            <a:off x="822960" y="1673352"/>
            <a:ext cx="34290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Record 30s voice → pitch, tone, MFCC extracted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23"/>
          <p:cNvSpPr/>
          <p:nvPr/>
        </p:nvSpPr>
        <p:spPr>
          <a:xfrm>
            <a:off x="320040" y="2404872"/>
            <a:ext cx="411480" cy="566928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23"/>
          <p:cNvSpPr/>
          <p:nvPr/>
        </p:nvSpPr>
        <p:spPr>
          <a:xfrm>
            <a:off x="320040" y="2404872"/>
            <a:ext cx="411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23"/>
          <p:cNvSpPr/>
          <p:nvPr/>
        </p:nvSpPr>
        <p:spPr>
          <a:xfrm>
            <a:off x="731520" y="2404872"/>
            <a:ext cx="3611880" cy="566928"/>
          </a:xfrm>
          <a:prstGeom prst="rect">
            <a:avLst/>
          </a:prstGeom>
          <a:solidFill>
            <a:srgbClr val="F4F8FB"/>
          </a:solidFill>
          <a:ln cap="flat" cmpd="sng" w="9525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23"/>
          <p:cNvSpPr/>
          <p:nvPr/>
        </p:nvSpPr>
        <p:spPr>
          <a:xfrm>
            <a:off x="822960" y="2441448"/>
            <a:ext cx="34290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POST /voice-intro → emotion detected &amp; saved to MongoDB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23"/>
          <p:cNvSpPr/>
          <p:nvPr/>
        </p:nvSpPr>
        <p:spPr>
          <a:xfrm>
            <a:off x="320040" y="3172968"/>
            <a:ext cx="411480" cy="566928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23"/>
          <p:cNvSpPr/>
          <p:nvPr/>
        </p:nvSpPr>
        <p:spPr>
          <a:xfrm>
            <a:off x="320040" y="3172968"/>
            <a:ext cx="411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23"/>
          <p:cNvSpPr/>
          <p:nvPr/>
        </p:nvSpPr>
        <p:spPr>
          <a:xfrm>
            <a:off x="731520" y="3172968"/>
            <a:ext cx="3611880" cy="566928"/>
          </a:xfrm>
          <a:prstGeom prst="rect">
            <a:avLst/>
          </a:prstGeom>
          <a:solidFill>
            <a:srgbClr val="C8F0EB"/>
          </a:solidFill>
          <a:ln cap="flat" cmpd="sng" w="9525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23"/>
          <p:cNvSpPr/>
          <p:nvPr/>
        </p:nvSpPr>
        <p:spPr>
          <a:xfrm>
            <a:off x="822960" y="3209544"/>
            <a:ext cx="34290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Answer mood questionnaire (sleep, stress, performance…)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23"/>
          <p:cNvSpPr/>
          <p:nvPr/>
        </p:nvSpPr>
        <p:spPr>
          <a:xfrm>
            <a:off x="320040" y="3941064"/>
            <a:ext cx="411480" cy="566928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23"/>
          <p:cNvSpPr/>
          <p:nvPr/>
        </p:nvSpPr>
        <p:spPr>
          <a:xfrm>
            <a:off x="320040" y="3941064"/>
            <a:ext cx="411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23"/>
          <p:cNvSpPr/>
          <p:nvPr/>
        </p:nvSpPr>
        <p:spPr>
          <a:xfrm>
            <a:off x="731520" y="3941064"/>
            <a:ext cx="3611880" cy="566928"/>
          </a:xfrm>
          <a:prstGeom prst="rect">
            <a:avLst/>
          </a:prstGeom>
          <a:solidFill>
            <a:srgbClr val="F4F8FB"/>
          </a:solidFill>
          <a:ln cap="flat" cmpd="sng" w="9525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23"/>
          <p:cNvSpPr/>
          <p:nvPr/>
        </p:nvSpPr>
        <p:spPr>
          <a:xfrm>
            <a:off x="822960" y="3977640"/>
            <a:ext cx="34290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POST /predict → ML model fuses voice + survey → severity label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23"/>
          <p:cNvSpPr/>
          <p:nvPr/>
        </p:nvSpPr>
        <p:spPr>
          <a:xfrm>
            <a:off x="4754880" y="868680"/>
            <a:ext cx="411480" cy="566928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23"/>
          <p:cNvSpPr/>
          <p:nvPr/>
        </p:nvSpPr>
        <p:spPr>
          <a:xfrm>
            <a:off x="4754880" y="868680"/>
            <a:ext cx="411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23"/>
          <p:cNvSpPr/>
          <p:nvPr/>
        </p:nvSpPr>
        <p:spPr>
          <a:xfrm>
            <a:off x="5166360" y="868680"/>
            <a:ext cx="3611880" cy="566928"/>
          </a:xfrm>
          <a:prstGeom prst="rect">
            <a:avLst/>
          </a:prstGeom>
          <a:solidFill>
            <a:srgbClr val="C8F0EB"/>
          </a:solidFill>
          <a:ln cap="flat" cmpd="sng" w="9525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23"/>
          <p:cNvSpPr/>
          <p:nvPr/>
        </p:nvSpPr>
        <p:spPr>
          <a:xfrm>
            <a:off x="5257800" y="905256"/>
            <a:ext cx="34290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Therapeutic chatbot begins empathetic conversation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23"/>
          <p:cNvSpPr/>
          <p:nvPr/>
        </p:nvSpPr>
        <p:spPr>
          <a:xfrm>
            <a:off x="4754880" y="1636776"/>
            <a:ext cx="411480" cy="566928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23"/>
          <p:cNvSpPr/>
          <p:nvPr/>
        </p:nvSpPr>
        <p:spPr>
          <a:xfrm>
            <a:off x="4754880" y="1636776"/>
            <a:ext cx="411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23"/>
          <p:cNvSpPr/>
          <p:nvPr/>
        </p:nvSpPr>
        <p:spPr>
          <a:xfrm>
            <a:off x="5166360" y="1636776"/>
            <a:ext cx="3611880" cy="566928"/>
          </a:xfrm>
          <a:prstGeom prst="rect">
            <a:avLst/>
          </a:prstGeom>
          <a:solidFill>
            <a:srgbClr val="F4F8FB"/>
          </a:solidFill>
          <a:ln cap="flat" cmpd="sng" w="9525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23"/>
          <p:cNvSpPr/>
          <p:nvPr/>
        </p:nvSpPr>
        <p:spPr>
          <a:xfrm>
            <a:off x="5257800" y="1673352"/>
            <a:ext cx="34290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/tts converts replies to audio (Edge-TTS / gTTS, EN or UR)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23"/>
          <p:cNvSpPr/>
          <p:nvPr/>
        </p:nvSpPr>
        <p:spPr>
          <a:xfrm>
            <a:off x="4754880" y="2404872"/>
            <a:ext cx="411480" cy="566928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23"/>
          <p:cNvSpPr/>
          <p:nvPr/>
        </p:nvSpPr>
        <p:spPr>
          <a:xfrm>
            <a:off x="4754880" y="2404872"/>
            <a:ext cx="411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23"/>
          <p:cNvSpPr/>
          <p:nvPr/>
        </p:nvSpPr>
        <p:spPr>
          <a:xfrm>
            <a:off x="5166360" y="2404872"/>
            <a:ext cx="3611880" cy="566928"/>
          </a:xfrm>
          <a:prstGeom prst="rect">
            <a:avLst/>
          </a:prstGeom>
          <a:solidFill>
            <a:srgbClr val="C8F0EB"/>
          </a:solidFill>
          <a:ln cap="flat" cmpd="sng" w="9525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23"/>
          <p:cNvSpPr/>
          <p:nvPr/>
        </p:nvSpPr>
        <p:spPr>
          <a:xfrm>
            <a:off x="5257800" y="2441448"/>
            <a:ext cx="34290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Recharts dashboard shows emotion trends across sessions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23"/>
          <p:cNvSpPr/>
          <p:nvPr/>
        </p:nvSpPr>
        <p:spPr>
          <a:xfrm>
            <a:off x="4754880" y="3172968"/>
            <a:ext cx="411480" cy="566928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23"/>
          <p:cNvSpPr/>
          <p:nvPr/>
        </p:nvSpPr>
        <p:spPr>
          <a:xfrm>
            <a:off x="4754880" y="3172968"/>
            <a:ext cx="411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23"/>
          <p:cNvSpPr/>
          <p:nvPr/>
        </p:nvSpPr>
        <p:spPr>
          <a:xfrm>
            <a:off x="5166360" y="3172968"/>
            <a:ext cx="3611880" cy="566928"/>
          </a:xfrm>
          <a:prstGeom prst="rect">
            <a:avLst/>
          </a:prstGeom>
          <a:solidFill>
            <a:srgbClr val="F4F8FB"/>
          </a:solidFill>
          <a:ln cap="flat" cmpd="sng" w="9525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23"/>
          <p:cNvSpPr/>
          <p:nvPr/>
        </p:nvSpPr>
        <p:spPr>
          <a:xfrm>
            <a:off x="5257800" y="3209544"/>
            <a:ext cx="34290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User rates chatbot replies 👍/👎 → saved for RLHF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24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24"/>
          <p:cNvSpPr/>
          <p:nvPr/>
        </p:nvSpPr>
        <p:spPr>
          <a:xfrm>
            <a:off x="640080" y="1645920"/>
            <a:ext cx="77724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Database Design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24"/>
          <p:cNvSpPr/>
          <p:nvPr/>
        </p:nvSpPr>
        <p:spPr>
          <a:xfrm>
            <a:off x="640080" y="283464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MongoDB Atlas — 5 collections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25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25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MongoDB Collections — db.py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2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25"/>
          <p:cNvSpPr/>
          <p:nvPr/>
        </p:nvSpPr>
        <p:spPr>
          <a:xfrm>
            <a:off x="320040" y="886968"/>
            <a:ext cx="8503920" cy="685800"/>
          </a:xfrm>
          <a:prstGeom prst="rect">
            <a:avLst/>
          </a:prstGeom>
          <a:solidFill>
            <a:srgbClr val="C8F0EB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25"/>
          <p:cNvSpPr/>
          <p:nvPr/>
        </p:nvSpPr>
        <p:spPr>
          <a:xfrm>
            <a:off x="457200" y="905256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1B3A5C"/>
                </a:solidFill>
                <a:latin typeface="Consolas"/>
                <a:ea typeface="Consolas"/>
                <a:cs typeface="Consolas"/>
                <a:sym typeface="Consolas"/>
              </a:rPr>
              <a:t>sessions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25"/>
          <p:cNvSpPr/>
          <p:nvPr/>
        </p:nvSpPr>
        <p:spPr>
          <a:xfrm>
            <a:off x="457200" y="1216152"/>
            <a:ext cx="5303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555555"/>
                </a:solidFill>
                <a:latin typeface="Consolas"/>
                <a:ea typeface="Consolas"/>
                <a:cs typeface="Consolas"/>
                <a:sym typeface="Consolas"/>
              </a:rPr>
              <a:t>Fields: session_id, language, voice_emotion, timestamp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25"/>
          <p:cNvSpPr/>
          <p:nvPr/>
        </p:nvSpPr>
        <p:spPr>
          <a:xfrm>
            <a:off x="5943600" y="932688"/>
            <a:ext cx="2743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Auto-deletes after 90 days (TTL index)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25"/>
          <p:cNvSpPr/>
          <p:nvPr/>
        </p:nvSpPr>
        <p:spPr>
          <a:xfrm>
            <a:off x="320040" y="1691640"/>
            <a:ext cx="8503920" cy="685800"/>
          </a:xfrm>
          <a:prstGeom prst="rect">
            <a:avLst/>
          </a:prstGeom>
          <a:solidFill>
            <a:srgbClr val="EDE8F7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25"/>
          <p:cNvSpPr/>
          <p:nvPr/>
        </p:nvSpPr>
        <p:spPr>
          <a:xfrm>
            <a:off x="457200" y="1709928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1B3A5C"/>
                </a:solidFill>
                <a:latin typeface="Consolas"/>
                <a:ea typeface="Consolas"/>
                <a:cs typeface="Consolas"/>
                <a:sym typeface="Consolas"/>
              </a:rPr>
              <a:t>biomarkers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25"/>
          <p:cNvSpPr/>
          <p:nvPr/>
        </p:nvSpPr>
        <p:spPr>
          <a:xfrm>
            <a:off x="457200" y="2020824"/>
            <a:ext cx="5303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555555"/>
                </a:solidFill>
                <a:latin typeface="Consolas"/>
                <a:ea typeface="Consolas"/>
                <a:cs typeface="Consolas"/>
                <a:sym typeface="Consolas"/>
              </a:rPr>
              <a:t>Fields: pitch, tone, mfcc_mean[], emotion_probabilities{}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25"/>
          <p:cNvSpPr/>
          <p:nvPr/>
        </p:nvSpPr>
        <p:spPr>
          <a:xfrm>
            <a:off x="5943600" y="1737360"/>
            <a:ext cx="2743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Raw voice features per session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25"/>
          <p:cNvSpPr/>
          <p:nvPr/>
        </p:nvSpPr>
        <p:spPr>
          <a:xfrm>
            <a:off x="320040" y="2496312"/>
            <a:ext cx="8503920" cy="685800"/>
          </a:xfrm>
          <a:prstGeom prst="rect">
            <a:avLst/>
          </a:prstGeom>
          <a:solidFill>
            <a:srgbClr val="D6EAF8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25"/>
          <p:cNvSpPr/>
          <p:nvPr/>
        </p:nvSpPr>
        <p:spPr>
          <a:xfrm>
            <a:off x="457200" y="251460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1B3A5C"/>
                </a:solidFill>
                <a:latin typeface="Consolas"/>
                <a:ea typeface="Consolas"/>
                <a:cs typeface="Consolas"/>
                <a:sym typeface="Consolas"/>
              </a:rPr>
              <a:t>predictions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25"/>
          <p:cNvSpPr/>
          <p:nvPr/>
        </p:nvSpPr>
        <p:spPr>
          <a:xfrm>
            <a:off x="457200" y="2825496"/>
            <a:ext cx="5303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555555"/>
                </a:solidFill>
                <a:latin typeface="Consolas"/>
                <a:ea typeface="Consolas"/>
                <a:cs typeface="Consolas"/>
                <a:sym typeface="Consolas"/>
              </a:rPr>
              <a:t>Fields: condition, level, input_features{}, session_id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25"/>
          <p:cNvSpPr/>
          <p:nvPr/>
        </p:nvSpPr>
        <p:spPr>
          <a:xfrm>
            <a:off x="5943600" y="2542032"/>
            <a:ext cx="2743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Final ML prediction results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25"/>
          <p:cNvSpPr/>
          <p:nvPr/>
        </p:nvSpPr>
        <p:spPr>
          <a:xfrm>
            <a:off x="320040" y="3300984"/>
            <a:ext cx="8503920" cy="685800"/>
          </a:xfrm>
          <a:prstGeom prst="rect">
            <a:avLst/>
          </a:prstGeom>
          <a:solidFill>
            <a:srgbClr val="FFF3E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25"/>
          <p:cNvSpPr/>
          <p:nvPr/>
        </p:nvSpPr>
        <p:spPr>
          <a:xfrm>
            <a:off x="457200" y="3319272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1B3A5C"/>
                </a:solidFill>
                <a:latin typeface="Consolas"/>
                <a:ea typeface="Consolas"/>
                <a:cs typeface="Consolas"/>
                <a:sym typeface="Consolas"/>
              </a:rPr>
              <a:t>chat_history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25"/>
          <p:cNvSpPr/>
          <p:nvPr/>
        </p:nvSpPr>
        <p:spPr>
          <a:xfrm>
            <a:off x="457200" y="3630168"/>
            <a:ext cx="5303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555555"/>
                </a:solidFill>
                <a:latin typeface="Consolas"/>
                <a:ea typeface="Consolas"/>
                <a:cs typeface="Consolas"/>
                <a:sym typeface="Consolas"/>
              </a:rPr>
              <a:t>Fields: role (user|assistant), message, stage, timestamp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25"/>
          <p:cNvSpPr/>
          <p:nvPr/>
        </p:nvSpPr>
        <p:spPr>
          <a:xfrm>
            <a:off x="5943600" y="3346704"/>
            <a:ext cx="2743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Every single chat message stored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25"/>
          <p:cNvSpPr/>
          <p:nvPr/>
        </p:nvSpPr>
        <p:spPr>
          <a:xfrm>
            <a:off x="320040" y="4105656"/>
            <a:ext cx="8503920" cy="685800"/>
          </a:xfrm>
          <a:prstGeom prst="rect">
            <a:avLst/>
          </a:prstGeom>
          <a:solidFill>
            <a:srgbClr val="F3E5F5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25"/>
          <p:cNvSpPr/>
          <p:nvPr/>
        </p:nvSpPr>
        <p:spPr>
          <a:xfrm>
            <a:off x="457200" y="4123944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1B3A5C"/>
                </a:solidFill>
                <a:latin typeface="Consolas"/>
                <a:ea typeface="Consolas"/>
                <a:cs typeface="Consolas"/>
                <a:sym typeface="Consolas"/>
              </a:rPr>
              <a:t>feedback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25"/>
          <p:cNvSpPr/>
          <p:nvPr/>
        </p:nvSpPr>
        <p:spPr>
          <a:xfrm>
            <a:off x="457200" y="4434840"/>
            <a:ext cx="5303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555555"/>
                </a:solidFill>
                <a:latin typeface="Consolas"/>
                <a:ea typeface="Consolas"/>
                <a:cs typeface="Consolas"/>
                <a:sym typeface="Consolas"/>
              </a:rPr>
              <a:t>Fields: message_index, vote (+1|-1), session_id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25"/>
          <p:cNvSpPr/>
          <p:nvPr/>
        </p:nvSpPr>
        <p:spPr>
          <a:xfrm>
            <a:off x="5943600" y="4151376"/>
            <a:ext cx="2743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RLHF training data from user ratings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26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26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db.py — Database Layer Functions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2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26"/>
          <p:cNvSpPr/>
          <p:nvPr/>
        </p:nvSpPr>
        <p:spPr>
          <a:xfrm>
            <a:off x="320040" y="886968"/>
            <a:ext cx="8503920" cy="685800"/>
          </a:xfrm>
          <a:prstGeom prst="rect">
            <a:avLst/>
          </a:prstGeom>
          <a:solidFill>
            <a:srgbClr val="C8F0EB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26"/>
          <p:cNvSpPr/>
          <p:nvPr/>
        </p:nvSpPr>
        <p:spPr>
          <a:xfrm>
            <a:off x="320040" y="886968"/>
            <a:ext cx="164592" cy="68580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26"/>
          <p:cNvSpPr/>
          <p:nvPr/>
        </p:nvSpPr>
        <p:spPr>
          <a:xfrm>
            <a:off x="566928" y="905256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1B3A5C"/>
                </a:solidFill>
                <a:latin typeface="Consolas"/>
                <a:ea typeface="Consolas"/>
                <a:cs typeface="Consolas"/>
                <a:sym typeface="Consolas"/>
              </a:rPr>
              <a:t>save_session()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26"/>
          <p:cNvSpPr/>
          <p:nvPr/>
        </p:nvSpPr>
        <p:spPr>
          <a:xfrm>
            <a:off x="566928" y="1225296"/>
            <a:ext cx="80467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Called after /voice-intro. Inserts session_id + detected voice emotion into sessions collection.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26"/>
          <p:cNvSpPr/>
          <p:nvPr/>
        </p:nvSpPr>
        <p:spPr>
          <a:xfrm>
            <a:off x="320040" y="1691640"/>
            <a:ext cx="8503920" cy="685800"/>
          </a:xfrm>
          <a:prstGeom prst="rect">
            <a:avLst/>
          </a:prstGeom>
          <a:solidFill>
            <a:srgbClr val="F4F8FB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26"/>
          <p:cNvSpPr/>
          <p:nvPr/>
        </p:nvSpPr>
        <p:spPr>
          <a:xfrm>
            <a:off x="320040" y="1691640"/>
            <a:ext cx="164592" cy="68580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26"/>
          <p:cNvSpPr/>
          <p:nvPr/>
        </p:nvSpPr>
        <p:spPr>
          <a:xfrm>
            <a:off x="566928" y="1709928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1B3A5C"/>
                </a:solidFill>
                <a:latin typeface="Consolas"/>
                <a:ea typeface="Consolas"/>
                <a:cs typeface="Consolas"/>
                <a:sym typeface="Consolas"/>
              </a:rPr>
              <a:t>save_biomarkers()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26"/>
          <p:cNvSpPr/>
          <p:nvPr/>
        </p:nvSpPr>
        <p:spPr>
          <a:xfrm>
            <a:off x="566928" y="2029968"/>
            <a:ext cx="80467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Saves raw pitch/tone/MFCC values + emotion probability scores to biomarkers collection.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26"/>
          <p:cNvSpPr/>
          <p:nvPr/>
        </p:nvSpPr>
        <p:spPr>
          <a:xfrm>
            <a:off x="320040" y="2496312"/>
            <a:ext cx="8503920" cy="685800"/>
          </a:xfrm>
          <a:prstGeom prst="rect">
            <a:avLst/>
          </a:prstGeom>
          <a:solidFill>
            <a:srgbClr val="C8F0EB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26"/>
          <p:cNvSpPr/>
          <p:nvPr/>
        </p:nvSpPr>
        <p:spPr>
          <a:xfrm>
            <a:off x="320040" y="2496312"/>
            <a:ext cx="164592" cy="68580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26"/>
          <p:cNvSpPr/>
          <p:nvPr/>
        </p:nvSpPr>
        <p:spPr>
          <a:xfrm>
            <a:off x="566928" y="251460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1B3A5C"/>
                </a:solidFill>
                <a:latin typeface="Consolas"/>
                <a:ea typeface="Consolas"/>
                <a:cs typeface="Consolas"/>
                <a:sym typeface="Consolas"/>
              </a:rPr>
              <a:t>save_prediction()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26"/>
          <p:cNvSpPr/>
          <p:nvPr/>
        </p:nvSpPr>
        <p:spPr>
          <a:xfrm>
            <a:off x="566928" y="2834640"/>
            <a:ext cx="80467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Stores ML prediction: condition, severity level, and all input features used.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26"/>
          <p:cNvSpPr/>
          <p:nvPr/>
        </p:nvSpPr>
        <p:spPr>
          <a:xfrm>
            <a:off x="320040" y="3300984"/>
            <a:ext cx="8503920" cy="685800"/>
          </a:xfrm>
          <a:prstGeom prst="rect">
            <a:avLst/>
          </a:prstGeom>
          <a:solidFill>
            <a:srgbClr val="F4F8FB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26"/>
          <p:cNvSpPr/>
          <p:nvPr/>
        </p:nvSpPr>
        <p:spPr>
          <a:xfrm>
            <a:off x="320040" y="3300984"/>
            <a:ext cx="164592" cy="68580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26"/>
          <p:cNvSpPr/>
          <p:nvPr/>
        </p:nvSpPr>
        <p:spPr>
          <a:xfrm>
            <a:off x="566928" y="331927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1B3A5C"/>
                </a:solidFill>
                <a:latin typeface="Consolas"/>
                <a:ea typeface="Consolas"/>
                <a:cs typeface="Consolas"/>
                <a:sym typeface="Consolas"/>
              </a:rPr>
              <a:t>save_chat_message()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26"/>
          <p:cNvSpPr/>
          <p:nvPr/>
        </p:nvSpPr>
        <p:spPr>
          <a:xfrm>
            <a:off x="566928" y="3639312"/>
            <a:ext cx="80467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Inserts every chat message (user or assistant) with role, stage, and ISO timestamp.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26"/>
          <p:cNvSpPr/>
          <p:nvPr/>
        </p:nvSpPr>
        <p:spPr>
          <a:xfrm>
            <a:off x="320040" y="4105656"/>
            <a:ext cx="8503920" cy="685800"/>
          </a:xfrm>
          <a:prstGeom prst="rect">
            <a:avLst/>
          </a:prstGeom>
          <a:solidFill>
            <a:srgbClr val="C8F0EB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26"/>
          <p:cNvSpPr/>
          <p:nvPr/>
        </p:nvSpPr>
        <p:spPr>
          <a:xfrm>
            <a:off x="320040" y="4105656"/>
            <a:ext cx="164592" cy="68580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26"/>
          <p:cNvSpPr/>
          <p:nvPr/>
        </p:nvSpPr>
        <p:spPr>
          <a:xfrm>
            <a:off x="566928" y="4123944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1B3A5C"/>
                </a:solidFill>
                <a:latin typeface="Consolas"/>
                <a:ea typeface="Consolas"/>
                <a:cs typeface="Consolas"/>
                <a:sym typeface="Consolas"/>
              </a:rPr>
              <a:t>save_feedback()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26"/>
          <p:cNvSpPr/>
          <p:nvPr/>
        </p:nvSpPr>
        <p:spPr>
          <a:xfrm>
            <a:off x="566928" y="4443984"/>
            <a:ext cx="80467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Stores thumbs up/down vote as +1/-1 reward integer for RLHF. Linked to session_id.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27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27"/>
          <p:cNvSpPr/>
          <p:nvPr/>
        </p:nvSpPr>
        <p:spPr>
          <a:xfrm>
            <a:off x="640080" y="1645920"/>
            <a:ext cx="77724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Voice Processing &amp; TTS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27"/>
          <p:cNvSpPr/>
          <p:nvPr/>
        </p:nvSpPr>
        <p:spPr>
          <a:xfrm>
            <a:off x="640080" y="283464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Audio features + bilingual speech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28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28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Voice Biomarker Extraction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2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28"/>
          <p:cNvSpPr/>
          <p:nvPr/>
        </p:nvSpPr>
        <p:spPr>
          <a:xfrm>
            <a:off x="320040" y="886968"/>
            <a:ext cx="5120640" cy="868680"/>
          </a:xfrm>
          <a:prstGeom prst="rect">
            <a:avLst/>
          </a:prstGeom>
          <a:solidFill>
            <a:srgbClr val="C8F0EB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28"/>
          <p:cNvSpPr/>
          <p:nvPr/>
        </p:nvSpPr>
        <p:spPr>
          <a:xfrm>
            <a:off x="457200" y="905256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Pitch (F0)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28"/>
          <p:cNvSpPr/>
          <p:nvPr/>
        </p:nvSpPr>
        <p:spPr>
          <a:xfrm>
            <a:off x="457200" y="1225296"/>
            <a:ext cx="48463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Fundamental frequency of voice. Higher pitch → elevated stress or excitement.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28"/>
          <p:cNvSpPr/>
          <p:nvPr/>
        </p:nvSpPr>
        <p:spPr>
          <a:xfrm>
            <a:off x="320040" y="1892808"/>
            <a:ext cx="5120640" cy="868680"/>
          </a:xfrm>
          <a:prstGeom prst="rect">
            <a:avLst/>
          </a:prstGeom>
          <a:solidFill>
            <a:srgbClr val="EDE8F7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28"/>
          <p:cNvSpPr/>
          <p:nvPr/>
        </p:nvSpPr>
        <p:spPr>
          <a:xfrm>
            <a:off x="457200" y="1911096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Tone / Energy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28"/>
          <p:cNvSpPr/>
          <p:nvPr/>
        </p:nvSpPr>
        <p:spPr>
          <a:xfrm>
            <a:off x="457200" y="2231136"/>
            <a:ext cx="48463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RMS energy of audio signal. Low energy often correlates with depression.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28"/>
          <p:cNvSpPr/>
          <p:nvPr/>
        </p:nvSpPr>
        <p:spPr>
          <a:xfrm>
            <a:off x="320040" y="2898648"/>
            <a:ext cx="5120640" cy="868680"/>
          </a:xfrm>
          <a:prstGeom prst="rect">
            <a:avLst/>
          </a:prstGeom>
          <a:solidFill>
            <a:srgbClr val="C8F0EB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28"/>
          <p:cNvSpPr/>
          <p:nvPr/>
        </p:nvSpPr>
        <p:spPr>
          <a:xfrm>
            <a:off x="457200" y="2916936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MFCC (1-13)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28"/>
          <p:cNvSpPr/>
          <p:nvPr/>
        </p:nvSpPr>
        <p:spPr>
          <a:xfrm>
            <a:off x="457200" y="3236976"/>
            <a:ext cx="48463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Mel-Frequency Cepstral Coefficients. Capture vocal tract shape. Industry standard for emotion detection.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28"/>
          <p:cNvSpPr/>
          <p:nvPr/>
        </p:nvSpPr>
        <p:spPr>
          <a:xfrm>
            <a:off x="320040" y="3904488"/>
            <a:ext cx="5120640" cy="868680"/>
          </a:xfrm>
          <a:prstGeom prst="rect">
            <a:avLst/>
          </a:prstGeom>
          <a:solidFill>
            <a:srgbClr val="EDE8F7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28"/>
          <p:cNvSpPr/>
          <p:nvPr/>
        </p:nvSpPr>
        <p:spPr>
          <a:xfrm>
            <a:off x="457200" y="3922776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Zero Crossing Rate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28"/>
          <p:cNvSpPr/>
          <p:nvPr/>
        </p:nvSpPr>
        <p:spPr>
          <a:xfrm>
            <a:off x="457200" y="4242816"/>
            <a:ext cx="48463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Rate of sign changes in audio. High ZCR indicates noisy/anxious speech.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28"/>
          <p:cNvSpPr/>
          <p:nvPr/>
        </p:nvSpPr>
        <p:spPr>
          <a:xfrm>
            <a:off x="5669280" y="804672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Extraction Pipeline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28"/>
          <p:cNvSpPr/>
          <p:nvPr/>
        </p:nvSpPr>
        <p:spPr>
          <a:xfrm>
            <a:off x="5669280" y="1234440"/>
            <a:ext cx="3108960" cy="420624"/>
          </a:xfrm>
          <a:prstGeom prst="rect">
            <a:avLst/>
          </a:prstGeom>
          <a:solidFill>
            <a:srgbClr val="F4F8FB"/>
          </a:solidFill>
          <a:ln cap="flat" cmpd="sng" w="9525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28"/>
          <p:cNvSpPr/>
          <p:nvPr/>
        </p:nvSpPr>
        <p:spPr>
          <a:xfrm>
            <a:off x="5760720" y="1261872"/>
            <a:ext cx="2926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User records 30s voice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28"/>
          <p:cNvSpPr/>
          <p:nvPr/>
        </p:nvSpPr>
        <p:spPr>
          <a:xfrm>
            <a:off x="5669280" y="1737360"/>
            <a:ext cx="3108960" cy="420624"/>
          </a:xfrm>
          <a:prstGeom prst="rect">
            <a:avLst/>
          </a:prstGeom>
          <a:solidFill>
            <a:srgbClr val="D6EAF8"/>
          </a:solidFill>
          <a:ln cap="flat" cmpd="sng" w="9525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28"/>
          <p:cNvSpPr/>
          <p:nvPr/>
        </p:nvSpPr>
        <p:spPr>
          <a:xfrm>
            <a:off x="5760720" y="1764792"/>
            <a:ext cx="2926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Web Audio API captures stream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28"/>
          <p:cNvSpPr/>
          <p:nvPr/>
        </p:nvSpPr>
        <p:spPr>
          <a:xfrm>
            <a:off x="5669280" y="2240280"/>
            <a:ext cx="3108960" cy="420624"/>
          </a:xfrm>
          <a:prstGeom prst="rect">
            <a:avLst/>
          </a:prstGeom>
          <a:solidFill>
            <a:srgbClr val="F4F8FB"/>
          </a:solidFill>
          <a:ln cap="flat" cmpd="sng" w="9525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28"/>
          <p:cNvSpPr/>
          <p:nvPr/>
        </p:nvSpPr>
        <p:spPr>
          <a:xfrm>
            <a:off x="5760720" y="2267712"/>
            <a:ext cx="2926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analyser.getFloatFrequencyData()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28"/>
          <p:cNvSpPr/>
          <p:nvPr/>
        </p:nvSpPr>
        <p:spPr>
          <a:xfrm>
            <a:off x="5669280" y="2743200"/>
            <a:ext cx="3108960" cy="420624"/>
          </a:xfrm>
          <a:prstGeom prst="rect">
            <a:avLst/>
          </a:prstGeom>
          <a:solidFill>
            <a:srgbClr val="D6EAF8"/>
          </a:solidFill>
          <a:ln cap="flat" cmpd="sng" w="9525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28"/>
          <p:cNvSpPr/>
          <p:nvPr/>
        </p:nvSpPr>
        <p:spPr>
          <a:xfrm>
            <a:off x="5760720" y="2770632"/>
            <a:ext cx="2926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MFCC computed client-side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28"/>
          <p:cNvSpPr/>
          <p:nvPr/>
        </p:nvSpPr>
        <p:spPr>
          <a:xfrm>
            <a:off x="5669280" y="3246120"/>
            <a:ext cx="3108960" cy="420624"/>
          </a:xfrm>
          <a:prstGeom prst="rect">
            <a:avLst/>
          </a:prstGeom>
          <a:solidFill>
            <a:srgbClr val="F4F8FB"/>
          </a:solidFill>
          <a:ln cap="flat" cmpd="sng" w="9525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28"/>
          <p:cNvSpPr/>
          <p:nvPr/>
        </p:nvSpPr>
        <p:spPr>
          <a:xfrm>
            <a:off x="5760720" y="3273552"/>
            <a:ext cx="2926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JSON payload sent to /voice-intro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28"/>
          <p:cNvSpPr/>
          <p:nvPr/>
        </p:nvSpPr>
        <p:spPr>
          <a:xfrm>
            <a:off x="5669280" y="3749040"/>
            <a:ext cx="3108960" cy="420624"/>
          </a:xfrm>
          <a:prstGeom prst="rect">
            <a:avLst/>
          </a:prstGeom>
          <a:solidFill>
            <a:srgbClr val="D6EAF8"/>
          </a:solidFill>
          <a:ln cap="flat" cmpd="sng" w="9525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28"/>
          <p:cNvSpPr/>
          <p:nvPr/>
        </p:nvSpPr>
        <p:spPr>
          <a:xfrm>
            <a:off x="5760720" y="3776472"/>
            <a:ext cx="2926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Flask: emotion classification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28"/>
          <p:cNvSpPr/>
          <p:nvPr/>
        </p:nvSpPr>
        <p:spPr>
          <a:xfrm>
            <a:off x="5669280" y="4251960"/>
            <a:ext cx="3108960" cy="420624"/>
          </a:xfrm>
          <a:prstGeom prst="rect">
            <a:avLst/>
          </a:prstGeom>
          <a:solidFill>
            <a:srgbClr val="F4F8FB"/>
          </a:solidFill>
          <a:ln cap="flat" cmpd="sng" w="9525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28"/>
          <p:cNvSpPr/>
          <p:nvPr/>
        </p:nvSpPr>
        <p:spPr>
          <a:xfrm>
            <a:off x="5760720" y="4279392"/>
            <a:ext cx="2926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Confidence scores returned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29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29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Text-to-Speech (TTS) System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29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29"/>
          <p:cNvSpPr/>
          <p:nvPr/>
        </p:nvSpPr>
        <p:spPr>
          <a:xfrm>
            <a:off x="320040" y="886968"/>
            <a:ext cx="4023360" cy="3200400"/>
          </a:xfrm>
          <a:prstGeom prst="rect">
            <a:avLst/>
          </a:prstGeom>
          <a:solidFill>
            <a:srgbClr val="C8F0EB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29"/>
          <p:cNvSpPr/>
          <p:nvPr/>
        </p:nvSpPr>
        <p:spPr>
          <a:xfrm>
            <a:off x="457200" y="960120"/>
            <a:ext cx="3749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gTTS (Google TTS)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29"/>
          <p:cNvSpPr/>
          <p:nvPr/>
        </p:nvSpPr>
        <p:spPr>
          <a:xfrm>
            <a:off x="457200" y="141732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Strengths: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29"/>
          <p:cNvSpPr/>
          <p:nvPr/>
        </p:nvSpPr>
        <p:spPr>
          <a:xfrm>
            <a:off x="457200" y="1691640"/>
            <a:ext cx="37490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• Simple Python API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• Free to use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• Supports Urdu (ur)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• Returns MP3 file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29"/>
          <p:cNvSpPr/>
          <p:nvPr/>
        </p:nvSpPr>
        <p:spPr>
          <a:xfrm>
            <a:off x="457200" y="278892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7A5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07A5F"/>
                </a:solidFill>
                <a:latin typeface="Calibri"/>
                <a:ea typeface="Calibri"/>
                <a:cs typeface="Calibri"/>
                <a:sym typeface="Calibri"/>
              </a:rPr>
              <a:t>Limitations: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29"/>
          <p:cNvSpPr/>
          <p:nvPr/>
        </p:nvSpPr>
        <p:spPr>
          <a:xfrm>
            <a:off x="457200" y="3063240"/>
            <a:ext cx="374904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• Requires internet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• Robotic quality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• Limited voice styles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29"/>
          <p:cNvSpPr/>
          <p:nvPr/>
        </p:nvSpPr>
        <p:spPr>
          <a:xfrm>
            <a:off x="4709160" y="886968"/>
            <a:ext cx="4023360" cy="3200400"/>
          </a:xfrm>
          <a:prstGeom prst="rect">
            <a:avLst/>
          </a:prstGeom>
          <a:solidFill>
            <a:srgbClr val="EDE8F7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29"/>
          <p:cNvSpPr/>
          <p:nvPr/>
        </p:nvSpPr>
        <p:spPr>
          <a:xfrm>
            <a:off x="4846320" y="960120"/>
            <a:ext cx="3749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Edge-TTS (Microsoft)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29"/>
          <p:cNvSpPr/>
          <p:nvPr/>
        </p:nvSpPr>
        <p:spPr>
          <a:xfrm>
            <a:off x="4846320" y="141732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Strengths: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29"/>
          <p:cNvSpPr/>
          <p:nvPr/>
        </p:nvSpPr>
        <p:spPr>
          <a:xfrm>
            <a:off x="4846320" y="1691640"/>
            <a:ext cx="37490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• High quality neural voices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• 400+ voices, 100+ languages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• Natural prosody for Urdu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• Async / faster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29"/>
          <p:cNvSpPr/>
          <p:nvPr/>
        </p:nvSpPr>
        <p:spPr>
          <a:xfrm>
            <a:off x="4846320" y="278892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7A5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07A5F"/>
                </a:solidFill>
                <a:latin typeface="Calibri"/>
                <a:ea typeface="Calibri"/>
                <a:cs typeface="Calibri"/>
                <a:sym typeface="Calibri"/>
              </a:rPr>
              <a:t>Limitations: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29"/>
          <p:cNvSpPr/>
          <p:nvPr/>
        </p:nvSpPr>
        <p:spPr>
          <a:xfrm>
            <a:off x="4846320" y="3063240"/>
            <a:ext cx="374904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• Requires Edge TTS lib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• Slightly heavier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29"/>
          <p:cNvSpPr/>
          <p:nvPr/>
        </p:nvSpPr>
        <p:spPr>
          <a:xfrm>
            <a:off x="320040" y="4233672"/>
            <a:ext cx="8503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SentiCare uses Edge-TTS by default (better Urdu quality) with gTTS as fallback. User can select EN or UR at session start.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3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30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Bilingual Support — English &amp; Urdu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3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30"/>
          <p:cNvSpPr/>
          <p:nvPr/>
        </p:nvSpPr>
        <p:spPr>
          <a:xfrm>
            <a:off x="365760" y="82296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SentiCare is Pakistan-first. Most mental health apps ignore Urdu entirely. SentiCare supports full bilingual interaction: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30"/>
          <p:cNvSpPr/>
          <p:nvPr/>
        </p:nvSpPr>
        <p:spPr>
          <a:xfrm>
            <a:off x="365760" y="1463040"/>
            <a:ext cx="8412480" cy="566928"/>
          </a:xfrm>
          <a:prstGeom prst="rect">
            <a:avLst/>
          </a:prstGeom>
          <a:solidFill>
            <a:srgbClr val="C8F0EB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30"/>
          <p:cNvSpPr/>
          <p:nvPr/>
        </p:nvSpPr>
        <p:spPr>
          <a:xfrm>
            <a:off x="365760" y="1463040"/>
            <a:ext cx="164592" cy="566928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30"/>
          <p:cNvSpPr/>
          <p:nvPr/>
        </p:nvSpPr>
        <p:spPr>
          <a:xfrm>
            <a:off x="594360" y="1481328"/>
            <a:ext cx="21945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Language Selection: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30"/>
          <p:cNvSpPr/>
          <p:nvPr/>
        </p:nvSpPr>
        <p:spPr>
          <a:xfrm>
            <a:off x="2788920" y="1481328"/>
            <a:ext cx="58978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User picks English or Urdu at session start. Preference stored in session document.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30"/>
          <p:cNvSpPr/>
          <p:nvPr/>
        </p:nvSpPr>
        <p:spPr>
          <a:xfrm>
            <a:off x="365760" y="2148840"/>
            <a:ext cx="8412480" cy="566928"/>
          </a:xfrm>
          <a:prstGeom prst="rect">
            <a:avLst/>
          </a:prstGeom>
          <a:solidFill>
            <a:srgbClr val="F4F8FB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30"/>
          <p:cNvSpPr/>
          <p:nvPr/>
        </p:nvSpPr>
        <p:spPr>
          <a:xfrm>
            <a:off x="365760" y="2148840"/>
            <a:ext cx="164592" cy="566928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30"/>
          <p:cNvSpPr/>
          <p:nvPr/>
        </p:nvSpPr>
        <p:spPr>
          <a:xfrm>
            <a:off x="594360" y="2167128"/>
            <a:ext cx="21945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Chatbot Responses: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30"/>
          <p:cNvSpPr/>
          <p:nvPr/>
        </p:nvSpPr>
        <p:spPr>
          <a:xfrm>
            <a:off x="2788920" y="2167128"/>
            <a:ext cx="58978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Flask generates replies in selected language. Context-aware therapeutic phrases in Urdu.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30"/>
          <p:cNvSpPr/>
          <p:nvPr/>
        </p:nvSpPr>
        <p:spPr>
          <a:xfrm>
            <a:off x="365760" y="2834640"/>
            <a:ext cx="8412480" cy="566928"/>
          </a:xfrm>
          <a:prstGeom prst="rect">
            <a:avLst/>
          </a:prstGeom>
          <a:solidFill>
            <a:srgbClr val="C8F0EB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30"/>
          <p:cNvSpPr/>
          <p:nvPr/>
        </p:nvSpPr>
        <p:spPr>
          <a:xfrm>
            <a:off x="365760" y="2834640"/>
            <a:ext cx="164592" cy="566928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30"/>
          <p:cNvSpPr/>
          <p:nvPr/>
        </p:nvSpPr>
        <p:spPr>
          <a:xfrm>
            <a:off x="594360" y="2852928"/>
            <a:ext cx="21945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TTS Voice Output: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30"/>
          <p:cNvSpPr/>
          <p:nvPr/>
        </p:nvSpPr>
        <p:spPr>
          <a:xfrm>
            <a:off x="2788920" y="2852928"/>
            <a:ext cx="58978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Edge-TTS uses Microsoft Urdu Neural Voice (ur-PK). gTTS uses lang="ur" fallback.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30"/>
          <p:cNvSpPr/>
          <p:nvPr/>
        </p:nvSpPr>
        <p:spPr>
          <a:xfrm>
            <a:off x="365760" y="3520440"/>
            <a:ext cx="8412480" cy="566928"/>
          </a:xfrm>
          <a:prstGeom prst="rect">
            <a:avLst/>
          </a:prstGeom>
          <a:solidFill>
            <a:srgbClr val="F4F8FB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30"/>
          <p:cNvSpPr/>
          <p:nvPr/>
        </p:nvSpPr>
        <p:spPr>
          <a:xfrm>
            <a:off x="365760" y="3520440"/>
            <a:ext cx="164592" cy="566928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30"/>
          <p:cNvSpPr/>
          <p:nvPr/>
        </p:nvSpPr>
        <p:spPr>
          <a:xfrm>
            <a:off x="594360" y="3538728"/>
            <a:ext cx="21945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UI Adaptation: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30"/>
          <p:cNvSpPr/>
          <p:nvPr/>
        </p:nvSpPr>
        <p:spPr>
          <a:xfrm>
            <a:off x="2788920" y="3538728"/>
            <a:ext cx="58978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React renders chat bubbles with appropriate font rendering for Urdu script (RTL support).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30"/>
          <p:cNvSpPr/>
          <p:nvPr/>
        </p:nvSpPr>
        <p:spPr>
          <a:xfrm>
            <a:off x="365760" y="4206240"/>
            <a:ext cx="8412480" cy="566928"/>
          </a:xfrm>
          <a:prstGeom prst="rect">
            <a:avLst/>
          </a:prstGeom>
          <a:solidFill>
            <a:srgbClr val="C8F0EB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30"/>
          <p:cNvSpPr/>
          <p:nvPr/>
        </p:nvSpPr>
        <p:spPr>
          <a:xfrm>
            <a:off x="365760" y="4206240"/>
            <a:ext cx="164592" cy="566928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30"/>
          <p:cNvSpPr/>
          <p:nvPr/>
        </p:nvSpPr>
        <p:spPr>
          <a:xfrm>
            <a:off x="594360" y="4224528"/>
            <a:ext cx="21945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Accessibility: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30"/>
          <p:cNvSpPr/>
          <p:nvPr/>
        </p:nvSpPr>
        <p:spPr>
          <a:xfrm>
            <a:off x="2788920" y="4224528"/>
            <a:ext cx="58978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Voice-first design means users with low literacy can still fully use the system.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31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31"/>
          <p:cNvSpPr/>
          <p:nvPr/>
        </p:nvSpPr>
        <p:spPr>
          <a:xfrm>
            <a:off x="640080" y="1645920"/>
            <a:ext cx="77724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Evaluation &amp; Results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31"/>
          <p:cNvSpPr/>
          <p:nvPr/>
        </p:nvSpPr>
        <p:spPr>
          <a:xfrm>
            <a:off x="640080" y="283464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Performance metrics &amp; testing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3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3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 Evaluation Metrics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3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680" name="Google Shape;680;p32"/>
          <p:cNvGraphicFramePr/>
          <p:nvPr/>
        </p:nvGraphicFramePr>
        <p:xfrm>
          <a:off x="320040" y="91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{679F1DF8-A4DC-4A2F-9D38-E7BDE5C518DD}</a:tableStyleId>
              </a:tblPr>
              <a:tblGrid>
                <a:gridCol w="1417325"/>
                <a:gridCol w="1417325"/>
                <a:gridCol w="1417325"/>
                <a:gridCol w="1417325"/>
                <a:gridCol w="1417325"/>
                <a:gridCol w="1417325"/>
              </a:tblGrid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Condition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2809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2809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2809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2809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Model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2809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2809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2809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2809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2809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2809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2809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2809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F1-Score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2809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2809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2809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2809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2809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2809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2809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2809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Recall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2809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2809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2809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2809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5C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Anxiety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2809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2809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2809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2809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Random Forest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2809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2809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2809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2809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87%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2809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2809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2809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2809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0.86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2809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2809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2809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2809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0.88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2809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2809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2809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2809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0.85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2809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2809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2809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2809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Stress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2809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2809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2809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2809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Random Forest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2809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2809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2809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2809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84%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2809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2809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2809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2809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0.83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2809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2809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2809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2809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0.85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2809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2809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2809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2809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0.82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2809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2809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2809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2809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Depression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2809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2809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2809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2809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SVM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2809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2809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2809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2809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83%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2809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2809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2809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2809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0.82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2809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2809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2809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2809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0.84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2809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2809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2809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2809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0.81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2809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2809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2809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2809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81" name="Google Shape;681;p32"/>
          <p:cNvSpPr/>
          <p:nvPr/>
        </p:nvSpPr>
        <p:spPr>
          <a:xfrm>
            <a:off x="320040" y="3127248"/>
            <a:ext cx="8503920" cy="384048"/>
          </a:xfrm>
          <a:prstGeom prst="rect">
            <a:avLst/>
          </a:prstGeom>
          <a:solidFill>
            <a:srgbClr val="C8F0EB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32"/>
          <p:cNvSpPr/>
          <p:nvPr/>
        </p:nvSpPr>
        <p:spPr>
          <a:xfrm>
            <a:off x="457200" y="3154680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Test Set Split: 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32"/>
          <p:cNvSpPr/>
          <p:nvPr/>
        </p:nvSpPr>
        <p:spPr>
          <a:xfrm>
            <a:off x="2560320" y="3154680"/>
            <a:ext cx="6080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20% hold-out from Kaggle Student Mental Health Survey dataset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32"/>
          <p:cNvSpPr/>
          <p:nvPr/>
        </p:nvSpPr>
        <p:spPr>
          <a:xfrm>
            <a:off x="320040" y="3584448"/>
            <a:ext cx="8503920" cy="384048"/>
          </a:xfrm>
          <a:prstGeom prst="rect">
            <a:avLst/>
          </a:prstGeom>
          <a:solidFill>
            <a:srgbClr val="F4F8FB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32"/>
          <p:cNvSpPr/>
          <p:nvPr/>
        </p:nvSpPr>
        <p:spPr>
          <a:xfrm>
            <a:off x="457200" y="3611880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Class Imbalance: 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32"/>
          <p:cNvSpPr/>
          <p:nvPr/>
        </p:nvSpPr>
        <p:spPr>
          <a:xfrm>
            <a:off x="2560320" y="3611880"/>
            <a:ext cx="6080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Handled with class_weight="balanced" in scikit-learn estimators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32"/>
          <p:cNvSpPr/>
          <p:nvPr/>
        </p:nvSpPr>
        <p:spPr>
          <a:xfrm>
            <a:off x="320040" y="4041648"/>
            <a:ext cx="8503920" cy="384048"/>
          </a:xfrm>
          <a:prstGeom prst="rect">
            <a:avLst/>
          </a:prstGeom>
          <a:solidFill>
            <a:srgbClr val="C8F0EB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32"/>
          <p:cNvSpPr/>
          <p:nvPr/>
        </p:nvSpPr>
        <p:spPr>
          <a:xfrm>
            <a:off x="457200" y="4069080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Cross-Validation: 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32"/>
          <p:cNvSpPr/>
          <p:nvPr/>
        </p:nvSpPr>
        <p:spPr>
          <a:xfrm>
            <a:off x="2560320" y="4069080"/>
            <a:ext cx="6080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5-fold CV performed during training in notebooks/ experiments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32"/>
          <p:cNvSpPr/>
          <p:nvPr/>
        </p:nvSpPr>
        <p:spPr>
          <a:xfrm>
            <a:off x="320040" y="4498848"/>
            <a:ext cx="8503920" cy="384048"/>
          </a:xfrm>
          <a:prstGeom prst="rect">
            <a:avLst/>
          </a:prstGeom>
          <a:solidFill>
            <a:srgbClr val="F4F8FB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32"/>
          <p:cNvSpPr/>
          <p:nvPr/>
        </p:nvSpPr>
        <p:spPr>
          <a:xfrm>
            <a:off x="457200" y="4526280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Voice Fusion: 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32"/>
          <p:cNvSpPr/>
          <p:nvPr/>
        </p:nvSpPr>
        <p:spPr>
          <a:xfrm>
            <a:off x="2560320" y="4526280"/>
            <a:ext cx="6080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Improves severity accuracy by ±4% when combined with survey scores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33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33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System Testing &amp; Validation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3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p33"/>
          <p:cNvSpPr/>
          <p:nvPr/>
        </p:nvSpPr>
        <p:spPr>
          <a:xfrm>
            <a:off x="320040" y="868680"/>
            <a:ext cx="4069080" cy="1170432"/>
          </a:xfrm>
          <a:prstGeom prst="rect">
            <a:avLst/>
          </a:prstGeom>
          <a:solidFill>
            <a:srgbClr val="C8F0EB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p33"/>
          <p:cNvSpPr/>
          <p:nvPr/>
        </p:nvSpPr>
        <p:spPr>
          <a:xfrm>
            <a:off x="457200" y="941832"/>
            <a:ext cx="3200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Unit Testing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33"/>
          <p:cNvSpPr/>
          <p:nvPr/>
        </p:nvSpPr>
        <p:spPr>
          <a:xfrm>
            <a:off x="3703320" y="978408"/>
            <a:ext cx="548640" cy="274320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" name="Google Shape;704;p33"/>
          <p:cNvSpPr/>
          <p:nvPr/>
        </p:nvSpPr>
        <p:spPr>
          <a:xfrm>
            <a:off x="3703320" y="97840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PASS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33"/>
          <p:cNvSpPr/>
          <p:nvPr/>
        </p:nvSpPr>
        <p:spPr>
          <a:xfrm>
            <a:off x="457200" y="1325880"/>
            <a:ext cx="37947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Each Flask route tested independently. MongoDB mock used for save functions in db.py.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33"/>
          <p:cNvSpPr/>
          <p:nvPr/>
        </p:nvSpPr>
        <p:spPr>
          <a:xfrm>
            <a:off x="320040" y="2221992"/>
            <a:ext cx="4069080" cy="1170432"/>
          </a:xfrm>
          <a:prstGeom prst="rect">
            <a:avLst/>
          </a:prstGeom>
          <a:solidFill>
            <a:srgbClr val="EDE8F7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33"/>
          <p:cNvSpPr/>
          <p:nvPr/>
        </p:nvSpPr>
        <p:spPr>
          <a:xfrm>
            <a:off x="457200" y="2295144"/>
            <a:ext cx="3200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Integration Testing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33"/>
          <p:cNvSpPr/>
          <p:nvPr/>
        </p:nvSpPr>
        <p:spPr>
          <a:xfrm>
            <a:off x="3703320" y="2331720"/>
            <a:ext cx="548640" cy="274320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33"/>
          <p:cNvSpPr/>
          <p:nvPr/>
        </p:nvSpPr>
        <p:spPr>
          <a:xfrm>
            <a:off x="3703320" y="23317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PASS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33"/>
          <p:cNvSpPr/>
          <p:nvPr/>
        </p:nvSpPr>
        <p:spPr>
          <a:xfrm>
            <a:off x="457200" y="2679192"/>
            <a:ext cx="37947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React ↔ Flask API communication tested. CORS headers validated. Audio pipeline end-to-end.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33"/>
          <p:cNvSpPr/>
          <p:nvPr/>
        </p:nvSpPr>
        <p:spPr>
          <a:xfrm>
            <a:off x="320040" y="3575304"/>
            <a:ext cx="4069080" cy="1170432"/>
          </a:xfrm>
          <a:prstGeom prst="rect">
            <a:avLst/>
          </a:prstGeom>
          <a:solidFill>
            <a:srgbClr val="D6EAF8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33"/>
          <p:cNvSpPr/>
          <p:nvPr/>
        </p:nvSpPr>
        <p:spPr>
          <a:xfrm>
            <a:off x="457200" y="3648456"/>
            <a:ext cx="3200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ML Model Testing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33"/>
          <p:cNvSpPr/>
          <p:nvPr/>
        </p:nvSpPr>
        <p:spPr>
          <a:xfrm>
            <a:off x="3703320" y="3685032"/>
            <a:ext cx="548640" cy="274320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p33"/>
          <p:cNvSpPr/>
          <p:nvPr/>
        </p:nvSpPr>
        <p:spPr>
          <a:xfrm>
            <a:off x="3703320" y="368503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PASS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33"/>
          <p:cNvSpPr/>
          <p:nvPr/>
        </p:nvSpPr>
        <p:spPr>
          <a:xfrm>
            <a:off x="457200" y="4032504"/>
            <a:ext cx="37947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Held-out test set evaluation. Confusion matrix generated for all 3 conditions.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33"/>
          <p:cNvSpPr/>
          <p:nvPr/>
        </p:nvSpPr>
        <p:spPr>
          <a:xfrm>
            <a:off x="4754880" y="868680"/>
            <a:ext cx="4069080" cy="1170432"/>
          </a:xfrm>
          <a:prstGeom prst="rect">
            <a:avLst/>
          </a:prstGeom>
          <a:solidFill>
            <a:srgbClr val="FFF3E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33"/>
          <p:cNvSpPr/>
          <p:nvPr/>
        </p:nvSpPr>
        <p:spPr>
          <a:xfrm>
            <a:off x="4892040" y="941832"/>
            <a:ext cx="3200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TTS Quality Test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33"/>
          <p:cNvSpPr/>
          <p:nvPr/>
        </p:nvSpPr>
        <p:spPr>
          <a:xfrm>
            <a:off x="8138160" y="978408"/>
            <a:ext cx="548640" cy="274320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33"/>
          <p:cNvSpPr/>
          <p:nvPr/>
        </p:nvSpPr>
        <p:spPr>
          <a:xfrm>
            <a:off x="8138160" y="97840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PASS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33"/>
          <p:cNvSpPr/>
          <p:nvPr/>
        </p:nvSpPr>
        <p:spPr>
          <a:xfrm>
            <a:off x="4892040" y="1325880"/>
            <a:ext cx="37947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Urdu and English audio outputs reviewed by native speakers. Edge-TTS rated 'natural'.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33"/>
          <p:cNvSpPr/>
          <p:nvPr/>
        </p:nvSpPr>
        <p:spPr>
          <a:xfrm>
            <a:off x="4754880" y="2221992"/>
            <a:ext cx="4069080" cy="1170432"/>
          </a:xfrm>
          <a:prstGeom prst="rect">
            <a:avLst/>
          </a:prstGeom>
          <a:solidFill>
            <a:srgbClr val="F3E5F5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p33"/>
          <p:cNvSpPr/>
          <p:nvPr/>
        </p:nvSpPr>
        <p:spPr>
          <a:xfrm>
            <a:off x="4892040" y="2295144"/>
            <a:ext cx="3200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Feedback Loop Test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33"/>
          <p:cNvSpPr/>
          <p:nvPr/>
        </p:nvSpPr>
        <p:spPr>
          <a:xfrm>
            <a:off x="8138160" y="2331720"/>
            <a:ext cx="548640" cy="274320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33"/>
          <p:cNvSpPr/>
          <p:nvPr/>
        </p:nvSpPr>
        <p:spPr>
          <a:xfrm>
            <a:off x="8138160" y="23317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PASS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33"/>
          <p:cNvSpPr/>
          <p:nvPr/>
        </p:nvSpPr>
        <p:spPr>
          <a:xfrm>
            <a:off x="4892040" y="2679192"/>
            <a:ext cx="37947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RLHF reward values (+1/-1) verified in MongoDB feedback collection after interaction.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33"/>
          <p:cNvSpPr/>
          <p:nvPr/>
        </p:nvSpPr>
        <p:spPr>
          <a:xfrm>
            <a:off x="4754880" y="3575304"/>
            <a:ext cx="4069080" cy="1170432"/>
          </a:xfrm>
          <a:prstGeom prst="rect">
            <a:avLst/>
          </a:prstGeom>
          <a:solidFill>
            <a:srgbClr val="E8F5E9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p33"/>
          <p:cNvSpPr/>
          <p:nvPr/>
        </p:nvSpPr>
        <p:spPr>
          <a:xfrm>
            <a:off x="4892040" y="3648456"/>
            <a:ext cx="3200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User Acceptance Test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33"/>
          <p:cNvSpPr/>
          <p:nvPr/>
        </p:nvSpPr>
        <p:spPr>
          <a:xfrm>
            <a:off x="8138160" y="3685032"/>
            <a:ext cx="548640" cy="274320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p33"/>
          <p:cNvSpPr/>
          <p:nvPr/>
        </p:nvSpPr>
        <p:spPr>
          <a:xfrm>
            <a:off x="8138160" y="368503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PASS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33"/>
          <p:cNvSpPr/>
          <p:nvPr/>
        </p:nvSpPr>
        <p:spPr>
          <a:xfrm>
            <a:off x="4892040" y="4032504"/>
            <a:ext cx="37947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10 student volunteers completed full session. Average rating: 4.2/5.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34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7" name="Google Shape;737;p34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Emotion Trend Visualization (Recharts)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3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39" name="Google Shape;73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868680"/>
            <a:ext cx="5669280" cy="3840480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p34"/>
          <p:cNvSpPr/>
          <p:nvPr/>
        </p:nvSpPr>
        <p:spPr>
          <a:xfrm>
            <a:off x="6309360" y="841248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Chart Features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34"/>
          <p:cNvSpPr/>
          <p:nvPr/>
        </p:nvSpPr>
        <p:spPr>
          <a:xfrm>
            <a:off x="6309360" y="1298448"/>
            <a:ext cx="2560320" cy="438912"/>
          </a:xfrm>
          <a:prstGeom prst="rect">
            <a:avLst/>
          </a:prstGeom>
          <a:solidFill>
            <a:srgbClr val="C8F0EB"/>
          </a:solidFill>
          <a:ln cap="flat" cmpd="sng" w="9525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2" name="Google Shape;742;p34"/>
          <p:cNvSpPr/>
          <p:nvPr/>
        </p:nvSpPr>
        <p:spPr>
          <a:xfrm>
            <a:off x="6400800" y="1316736"/>
            <a:ext cx="2377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Sessions on X-axis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34"/>
          <p:cNvSpPr/>
          <p:nvPr/>
        </p:nvSpPr>
        <p:spPr>
          <a:xfrm>
            <a:off x="6309360" y="1828800"/>
            <a:ext cx="2560320" cy="438912"/>
          </a:xfrm>
          <a:prstGeom prst="rect">
            <a:avLst/>
          </a:prstGeom>
          <a:solidFill>
            <a:srgbClr val="F4F8FB"/>
          </a:solidFill>
          <a:ln cap="flat" cmpd="sng" w="9525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" name="Google Shape;744;p34"/>
          <p:cNvSpPr/>
          <p:nvPr/>
        </p:nvSpPr>
        <p:spPr>
          <a:xfrm>
            <a:off x="6400800" y="1847088"/>
            <a:ext cx="2377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Emotion score 0-100 on 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34"/>
          <p:cNvSpPr/>
          <p:nvPr/>
        </p:nvSpPr>
        <p:spPr>
          <a:xfrm>
            <a:off x="6309360" y="2359152"/>
            <a:ext cx="2560320" cy="438912"/>
          </a:xfrm>
          <a:prstGeom prst="rect">
            <a:avLst/>
          </a:prstGeom>
          <a:solidFill>
            <a:srgbClr val="C8F0EB"/>
          </a:solidFill>
          <a:ln cap="flat" cmpd="sng" w="9525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p34"/>
          <p:cNvSpPr/>
          <p:nvPr/>
        </p:nvSpPr>
        <p:spPr>
          <a:xfrm>
            <a:off x="6400800" y="2377440"/>
            <a:ext cx="2377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Downward trend = improvement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34"/>
          <p:cNvSpPr/>
          <p:nvPr/>
        </p:nvSpPr>
        <p:spPr>
          <a:xfrm>
            <a:off x="6309360" y="2889504"/>
            <a:ext cx="2560320" cy="438912"/>
          </a:xfrm>
          <a:prstGeom prst="rect">
            <a:avLst/>
          </a:prstGeom>
          <a:solidFill>
            <a:srgbClr val="F4F8FB"/>
          </a:solidFill>
          <a:ln cap="flat" cmpd="sng" w="9525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34"/>
          <p:cNvSpPr/>
          <p:nvPr/>
        </p:nvSpPr>
        <p:spPr>
          <a:xfrm>
            <a:off x="6400800" y="2907792"/>
            <a:ext cx="2377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React Recharts library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34"/>
          <p:cNvSpPr/>
          <p:nvPr/>
        </p:nvSpPr>
        <p:spPr>
          <a:xfrm>
            <a:off x="6309360" y="3419856"/>
            <a:ext cx="2560320" cy="438912"/>
          </a:xfrm>
          <a:prstGeom prst="rect">
            <a:avLst/>
          </a:prstGeom>
          <a:solidFill>
            <a:srgbClr val="C8F0EB"/>
          </a:solidFill>
          <a:ln cap="flat" cmpd="sng" w="9525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p34"/>
          <p:cNvSpPr/>
          <p:nvPr/>
        </p:nvSpPr>
        <p:spPr>
          <a:xfrm>
            <a:off x="6400800" y="3438144"/>
            <a:ext cx="2377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Data from /history API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34"/>
          <p:cNvSpPr/>
          <p:nvPr/>
        </p:nvSpPr>
        <p:spPr>
          <a:xfrm>
            <a:off x="6309360" y="3950208"/>
            <a:ext cx="2560320" cy="438912"/>
          </a:xfrm>
          <a:prstGeom prst="rect">
            <a:avLst/>
          </a:prstGeom>
          <a:solidFill>
            <a:srgbClr val="F4F8FB"/>
          </a:solidFill>
          <a:ln cap="flat" cmpd="sng" w="9525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2" name="Google Shape;752;p34"/>
          <p:cNvSpPr/>
          <p:nvPr/>
        </p:nvSpPr>
        <p:spPr>
          <a:xfrm>
            <a:off x="6400800" y="3968496"/>
            <a:ext cx="2377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Real-time update on session end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35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9" name="Google Shape;759;p35"/>
          <p:cNvSpPr/>
          <p:nvPr/>
        </p:nvSpPr>
        <p:spPr>
          <a:xfrm>
            <a:off x="640080" y="1645920"/>
            <a:ext cx="77724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Live Demo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35">
            <a:hlinkClick r:id="rId3"/>
          </p:cNvPr>
          <p:cNvSpPr/>
          <p:nvPr/>
        </p:nvSpPr>
        <p:spPr>
          <a:xfrm>
            <a:off x="640080" y="283464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wajeehaijaz-senticare.hf.space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36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7" name="Google Shape;767;p36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Future Work &amp; Enhancements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3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9" name="Google Shape;769;p36"/>
          <p:cNvSpPr/>
          <p:nvPr/>
        </p:nvSpPr>
        <p:spPr>
          <a:xfrm>
            <a:off x="320040" y="868680"/>
            <a:ext cx="4069080" cy="1170432"/>
          </a:xfrm>
          <a:prstGeom prst="rect">
            <a:avLst/>
          </a:prstGeom>
          <a:solidFill>
            <a:srgbClr val="C8F0EB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0" name="Google Shape;770;p36"/>
          <p:cNvSpPr/>
          <p:nvPr/>
        </p:nvSpPr>
        <p:spPr>
          <a:xfrm>
            <a:off x="320040" y="868680"/>
            <a:ext cx="201168" cy="1170432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1" name="Google Shape;771;p36"/>
          <p:cNvSpPr/>
          <p:nvPr/>
        </p:nvSpPr>
        <p:spPr>
          <a:xfrm>
            <a:off x="612648" y="960120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LLM-Powered Chatbot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36"/>
          <p:cNvSpPr/>
          <p:nvPr/>
        </p:nvSpPr>
        <p:spPr>
          <a:xfrm>
            <a:off x="612648" y="1325880"/>
            <a:ext cx="3657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Replace rule-based responses with a fine-tuned LLM (e.g., LLaMA-3 or GPT-4o) for richer therapeutic dialogue.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36"/>
          <p:cNvSpPr/>
          <p:nvPr/>
        </p:nvSpPr>
        <p:spPr>
          <a:xfrm>
            <a:off x="320040" y="2221992"/>
            <a:ext cx="4069080" cy="1170432"/>
          </a:xfrm>
          <a:prstGeom prst="rect">
            <a:avLst/>
          </a:prstGeom>
          <a:solidFill>
            <a:srgbClr val="EDE8F7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p36"/>
          <p:cNvSpPr/>
          <p:nvPr/>
        </p:nvSpPr>
        <p:spPr>
          <a:xfrm>
            <a:off x="320040" y="2221992"/>
            <a:ext cx="201168" cy="1170432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p36"/>
          <p:cNvSpPr/>
          <p:nvPr/>
        </p:nvSpPr>
        <p:spPr>
          <a:xfrm>
            <a:off x="612648" y="2313432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RLHF Training Loop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36"/>
          <p:cNvSpPr/>
          <p:nvPr/>
        </p:nvSpPr>
        <p:spPr>
          <a:xfrm>
            <a:off x="612648" y="2679192"/>
            <a:ext cx="3657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Use collected thumbs up/down data to retrain chatbot with Proximal Policy Optimization (PPO).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36"/>
          <p:cNvSpPr/>
          <p:nvPr/>
        </p:nvSpPr>
        <p:spPr>
          <a:xfrm>
            <a:off x="320040" y="3575304"/>
            <a:ext cx="4069080" cy="1170432"/>
          </a:xfrm>
          <a:prstGeom prst="rect">
            <a:avLst/>
          </a:prstGeom>
          <a:solidFill>
            <a:srgbClr val="D6EAF8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8" name="Google Shape;778;p36"/>
          <p:cNvSpPr/>
          <p:nvPr/>
        </p:nvSpPr>
        <p:spPr>
          <a:xfrm>
            <a:off x="320040" y="3575304"/>
            <a:ext cx="201168" cy="1170432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9" name="Google Shape;779;p36"/>
          <p:cNvSpPr/>
          <p:nvPr/>
        </p:nvSpPr>
        <p:spPr>
          <a:xfrm>
            <a:off x="612648" y="3666744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Real Doctor Integration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36"/>
          <p:cNvSpPr/>
          <p:nvPr/>
        </p:nvSpPr>
        <p:spPr>
          <a:xfrm>
            <a:off x="612648" y="4032504"/>
            <a:ext cx="3657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Escalation pathway: if severity is "severe", auto-schedule appointment with a licensed therapist.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36"/>
          <p:cNvSpPr/>
          <p:nvPr/>
        </p:nvSpPr>
        <p:spPr>
          <a:xfrm>
            <a:off x="4754880" y="868680"/>
            <a:ext cx="4069080" cy="1170432"/>
          </a:xfrm>
          <a:prstGeom prst="rect">
            <a:avLst/>
          </a:prstGeom>
          <a:solidFill>
            <a:srgbClr val="FFF3E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2" name="Google Shape;782;p36"/>
          <p:cNvSpPr/>
          <p:nvPr/>
        </p:nvSpPr>
        <p:spPr>
          <a:xfrm>
            <a:off x="4754880" y="868680"/>
            <a:ext cx="201168" cy="1170432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3" name="Google Shape;783;p36"/>
          <p:cNvSpPr/>
          <p:nvPr/>
        </p:nvSpPr>
        <p:spPr>
          <a:xfrm>
            <a:off x="5047488" y="960120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Mobile App (React Native)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36"/>
          <p:cNvSpPr/>
          <p:nvPr/>
        </p:nvSpPr>
        <p:spPr>
          <a:xfrm>
            <a:off x="5047488" y="1325880"/>
            <a:ext cx="3657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Port the frontend to iOS/Android for wider accessibility across Pakistan and South Asia.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36"/>
          <p:cNvSpPr/>
          <p:nvPr/>
        </p:nvSpPr>
        <p:spPr>
          <a:xfrm>
            <a:off x="4754880" y="2221992"/>
            <a:ext cx="4069080" cy="1170432"/>
          </a:xfrm>
          <a:prstGeom prst="rect">
            <a:avLst/>
          </a:prstGeom>
          <a:solidFill>
            <a:srgbClr val="F3E5F5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6" name="Google Shape;786;p36"/>
          <p:cNvSpPr/>
          <p:nvPr/>
        </p:nvSpPr>
        <p:spPr>
          <a:xfrm>
            <a:off x="4754880" y="2221992"/>
            <a:ext cx="201168" cy="1170432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7" name="Google Shape;787;p36"/>
          <p:cNvSpPr/>
          <p:nvPr/>
        </p:nvSpPr>
        <p:spPr>
          <a:xfrm>
            <a:off x="5047488" y="2313432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More Languages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36"/>
          <p:cNvSpPr/>
          <p:nvPr/>
        </p:nvSpPr>
        <p:spPr>
          <a:xfrm>
            <a:off x="5047488" y="2679192"/>
            <a:ext cx="3657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Extend TTS + chatbot to Punjabi, Pashto, Sindhi for broader regional support.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36"/>
          <p:cNvSpPr/>
          <p:nvPr/>
        </p:nvSpPr>
        <p:spPr>
          <a:xfrm>
            <a:off x="4754880" y="3575304"/>
            <a:ext cx="4069080" cy="1170432"/>
          </a:xfrm>
          <a:prstGeom prst="rect">
            <a:avLst/>
          </a:prstGeom>
          <a:solidFill>
            <a:srgbClr val="E8F5E9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0" name="Google Shape;790;p36"/>
          <p:cNvSpPr/>
          <p:nvPr/>
        </p:nvSpPr>
        <p:spPr>
          <a:xfrm>
            <a:off x="4754880" y="3575304"/>
            <a:ext cx="201168" cy="1170432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1" name="Google Shape;791;p36"/>
          <p:cNvSpPr/>
          <p:nvPr/>
        </p:nvSpPr>
        <p:spPr>
          <a:xfrm>
            <a:off x="5047488" y="3666744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Longitudinal Study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36"/>
          <p:cNvSpPr/>
          <p:nvPr/>
        </p:nvSpPr>
        <p:spPr>
          <a:xfrm>
            <a:off x="5047488" y="4032504"/>
            <a:ext cx="3657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Conduct a formal clinical evaluation with 100+ students over 3 months to validate system efficacy.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37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9" name="Google Shape;799;p37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0" name="Google Shape;800;p37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1" name="Google Shape;801;p37"/>
          <p:cNvSpPr/>
          <p:nvPr/>
        </p:nvSpPr>
        <p:spPr>
          <a:xfrm>
            <a:off x="457200" y="123444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8F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4F8FB"/>
                </a:solidFill>
                <a:latin typeface="Calibri"/>
                <a:ea typeface="Calibri"/>
                <a:cs typeface="Calibri"/>
                <a:sym typeface="Calibri"/>
              </a:rPr>
              <a:t>✅  Voice-based emotion detection with pitch, tone, and MFCC features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37"/>
          <p:cNvSpPr/>
          <p:nvPr/>
        </p:nvSpPr>
        <p:spPr>
          <a:xfrm>
            <a:off x="457200" y="169164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8F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4F8FB"/>
                </a:solidFill>
                <a:latin typeface="Calibri"/>
                <a:ea typeface="Calibri"/>
                <a:cs typeface="Calibri"/>
                <a:sym typeface="Calibri"/>
              </a:rPr>
              <a:t>✅  ML models (87% accuracy) for anxiety, stress, depression classification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37"/>
          <p:cNvSpPr/>
          <p:nvPr/>
        </p:nvSpPr>
        <p:spPr>
          <a:xfrm>
            <a:off x="457200" y="214884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8F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4F8FB"/>
                </a:solidFill>
                <a:latin typeface="Calibri"/>
                <a:ea typeface="Calibri"/>
                <a:cs typeface="Calibri"/>
                <a:sym typeface="Calibri"/>
              </a:rPr>
              <a:t>✅  Bilingual (EN + UR) therapeutic chatbot with Edge-TTS voice output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p37"/>
          <p:cNvSpPr/>
          <p:nvPr/>
        </p:nvSpPr>
        <p:spPr>
          <a:xfrm>
            <a:off x="457200" y="260604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8F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4F8FB"/>
                </a:solidFill>
                <a:latin typeface="Calibri"/>
                <a:ea typeface="Calibri"/>
                <a:cs typeface="Calibri"/>
                <a:sym typeface="Calibri"/>
              </a:rPr>
              <a:t>✅  MongoDB-backed session tracking with RLHF-ready feedback loop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5" name="Google Shape;805;p37"/>
          <p:cNvSpPr/>
          <p:nvPr/>
        </p:nvSpPr>
        <p:spPr>
          <a:xfrm>
            <a:off x="457200" y="306324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8F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4F8FB"/>
                </a:solidFill>
                <a:latin typeface="Calibri"/>
                <a:ea typeface="Calibri"/>
                <a:cs typeface="Calibri"/>
                <a:sym typeface="Calibri"/>
              </a:rPr>
              <a:t>✅  Fully deployed on HuggingFace Spaces — open for evaluation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p37"/>
          <p:cNvSpPr/>
          <p:nvPr/>
        </p:nvSpPr>
        <p:spPr>
          <a:xfrm>
            <a:off x="457200" y="3456432"/>
            <a:ext cx="8229600" cy="4572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7" name="Google Shape;807;p37"/>
          <p:cNvSpPr/>
          <p:nvPr/>
        </p:nvSpPr>
        <p:spPr>
          <a:xfrm>
            <a:off x="457200" y="35661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37"/>
          <p:cNvSpPr/>
          <p:nvPr/>
        </p:nvSpPr>
        <p:spPr>
          <a:xfrm>
            <a:off x="457200" y="425196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3B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FA3B1"/>
                </a:solidFill>
                <a:latin typeface="Calibri"/>
                <a:ea typeface="Calibri"/>
                <a:cs typeface="Calibri"/>
                <a:sym typeface="Calibri"/>
              </a:rPr>
              <a:t>Sheikh Zain  ·  Wajeeha Ijaz  ·  Esha Gulzar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3B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FA3B1"/>
                </a:solidFill>
                <a:latin typeface="Calibri"/>
                <a:ea typeface="Calibri"/>
                <a:cs typeface="Calibri"/>
                <a:sym typeface="Calibri"/>
              </a:rPr>
              <a:t>Supervisor: Dr. Saad Razaq  |  PM: Dr. </a:t>
            </a:r>
            <a:r>
              <a:rPr lang="en-US" sz="1100">
                <a:solidFill>
                  <a:srgbClr val="8FA3B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1100" u="none" cap="none" strike="noStrike">
                <a:solidFill>
                  <a:srgbClr val="8FA3B1"/>
                </a:solidFill>
                <a:latin typeface="Calibri"/>
                <a:ea typeface="Calibri"/>
                <a:cs typeface="Calibri"/>
                <a:sym typeface="Calibri"/>
              </a:rPr>
              <a:t>llyas  |  University of Sargodha  |  2025–2026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